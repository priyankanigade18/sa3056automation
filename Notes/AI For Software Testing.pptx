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3"/>
  </p:notesMasterIdLst>
  <p:sldIdLst>
    <p:sldId id="256" r:id="rId2"/>
    <p:sldId id="257" r:id="rId3"/>
    <p:sldId id="258" r:id="rId4"/>
    <p:sldId id="262" r:id="rId5"/>
    <p:sldId id="263" r:id="rId6"/>
    <p:sldId id="259" r:id="rId7"/>
    <p:sldId id="260" r:id="rId8"/>
    <p:sldId id="265" r:id="rId9"/>
    <p:sldId id="266" r:id="rId10"/>
    <p:sldId id="261" r:id="rId11"/>
    <p:sldId id="264"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8" r:id="rId30"/>
    <p:sldId id="289" r:id="rId31"/>
    <p:sldId id="290" r:id="rId32"/>
    <p:sldId id="291" r:id="rId33"/>
    <p:sldId id="285" r:id="rId34"/>
    <p:sldId id="286" r:id="rId35"/>
    <p:sldId id="287" r:id="rId36"/>
    <p:sldId id="292" r:id="rId37"/>
    <p:sldId id="293" r:id="rId38"/>
    <p:sldId id="294" r:id="rId39"/>
    <p:sldId id="296" r:id="rId40"/>
    <p:sldId id="295" r:id="rId41"/>
    <p:sldId id="29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9" d="100"/>
          <a:sy n="89" d="100"/>
        </p:scale>
        <p:origin x="437"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6:31:23.167"/>
    </inkml:context>
    <inkml:brush xml:id="br0">
      <inkml:brushProperty name="width" value="0.035" units="cm"/>
      <inkml:brushProperty name="height" value="0.035" units="cm"/>
    </inkml:brush>
  </inkml:definitions>
  <inkml:trace contextRef="#ctx0" brushRef="#br0">1 2106 8340,'0'0'3079,"1"30"-2322,11 95-175,-11-121-541,0 1 1,0-1 0,0 1-1,1-1 1,0 0-1,0 1 1,0-1-1,0 0 1,0 0 0,1 0-1,0-1 1,0 1-1,0-1 1,0 1 0,1-1-1,-1 0 1,1 0-1,0 0 1,0-1-1,0 0 1,0 1 0,0-1-1,0 0 1,1-1-1,-1 1 1,7 0 0,-2 0 0,0-1 0,-1 0 0,1-1 1,0 0-1,0-1 0,0 1 1,-1-2-1,1 1 0,0-1 0,-1-1 1,15-5-1,-6-1 28,-2 0 0,1-2 0,-1 0 0,20-19-1,72-72 495,170-212-1,-205 227-484,804-932-263,-439 513-3866,-240 268-7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6:31:31.900"/>
    </inkml:context>
    <inkml:brush xml:id="br0">
      <inkml:brushProperty name="width" value="0.035" units="cm"/>
      <inkml:brushProperty name="height" value="0.035" units="cm"/>
    </inkml:brush>
  </inkml:definitions>
  <inkml:trace contextRef="#ctx0" brushRef="#br0">0 2305 4978,'0'0'1764,"8"29"-337,30 91-69,-36-114-1248,0 0-1,0 0 1,1 0 0,0-1-1,0 1 1,1-1 0,-1 0-1,1 0 1,0 0-1,1 0 1,-1-1 0,1 0-1,0 0 1,0 0 0,0 0-1,0-1 1,1 0 0,-1 0-1,1-1 1,0 1 0,0-1-1,0 0 1,0-1 0,0 1-1,11 0 1,-4-2 24,-1 0-1,0-1 1,0-1 0,0 1-1,0-2 1,0 0 0,0 0 0,-1-1-1,0-1 1,1 0 0,11-7-1,5-5 298,-1-2-1,47-41 1,49-61 587,-111 109-943,333-364 1085,-107 113-911,646-611 59,-423 433-376,-402 384-135,104-102-307,-53 59-3323,-87 82-2482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6:31:34.227"/>
    </inkml:context>
    <inkml:brush xml:id="br0">
      <inkml:brushProperty name="width" value="0.035" units="cm"/>
      <inkml:brushProperty name="height" value="0.035" units="cm"/>
    </inkml:brush>
  </inkml:definitions>
  <inkml:trace contextRef="#ctx0" brushRef="#br0">0 1875 4578,'0'0'5635,"19"35"-4557,64 117-201,-63-116-378,45 61 0,-55-85-388,1-1 0,0 0 1,1 0-1,0-1 0,0-1 1,16 9-1,-18-12-65,0-1-1,0 0 1,1-1 0,0 0-1,0-1 1,0 0 0,0-1-1,0 0 1,0 0 0,1-1-1,-1-1 1,1 0 0,-1-1-1,1 0 1,-1 0 0,0-1-1,21-7 1,-6 0 74,-1-2 0,0-1 0,-1 0 0,0-2 0,-1-1 0,33-27 0,217-207 1225,-20-25-784,-183 197-466,-16 16-35,469-505 244,29 34-190,-408 407-208,178-119 1,-315 239 31,53-31-466,-55 33 242,0 1 1,1 0 0,-1 0-1,1 0 1,-1 1-1,1 0 1,0 0 0,9-1-1,-15 2 197,1 0 0,0 0 0,-1 0-1,1 0 1,0 0 0,-1 0 0,1 0 0,-1 0 0,1 0-1,0 1 1,-1-1 0,1 0 0,-1 0 0,1 0 0,0 1-1,-1-1 1,1 0 0,-1 1 0,1-1 0,-1 0 0,1 1-1,-1-1 1,1 1 0,-1-1 0,0 1 0,1-1 0,-1 1-1,0-1 1,1 1 0,-1-1 0,0 1 0,1-1 0,-1 1 0,0 0-1,0-1 1,0 1 0,0 1 0,3 51-4108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6:31:36.816"/>
    </inkml:context>
    <inkml:brush xml:id="br0">
      <inkml:brushProperty name="width" value="0.035" units="cm"/>
      <inkml:brushProperty name="height" value="0.035" units="cm"/>
    </inkml:brush>
  </inkml:definitions>
  <inkml:trace contextRef="#ctx0" brushRef="#br0">1 517 9620,'0'0'1759,"29"-22"-1351,215-148-35,220-120 446,-450 282-1226,1 0 0,29-11-1,-46 25-1297,-9 7 1441,-263 217 731,106-92 56,-135 102 1996,287-227-1770,38-28-375,79-58-112,201-134-201,-27 51-4143,-143 94-2625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2T16:31:37.292"/>
    </inkml:context>
    <inkml:brush xml:id="br0">
      <inkml:brushProperty name="width" value="0.035" units="cm"/>
      <inkml:brushProperty name="height" value="0.035" units="cm"/>
    </inkml:brush>
  </inkml:definitions>
  <inkml:trace contextRef="#ctx0" brushRef="#br0">0 552 12086,'0'0'859,"27"-34"-809,-1 0-39,26-35 20,89-90-1,-96 115-96,1 1 0,2 3 0,2 1 0,68-39-1,-94 67-742,-24 11 800,0 0 0,0 0 0,1 0 0,-1 0 0,0 0 0,0 0 0,0 0 0,0 0 1,0 0-1,0 0 0,0 0 0,0 0 0,0 0 0,1 0 0,-1 0 0,0 0 0,0 0 0,0 0 0,0 0 0,0 0 0,0 0 1,0 0-1,0 0 0,0 0 0,0 0 0,1 0 0,-1 0 0,0 0 0,0 0 0,0 0 0,0 0 0,0 1 0,0-1 0,0 0 0,0 0 1,0 0-1,0 0 0,0 0 0,0 0 0,0 0 0,0 0 0,0 0 0,0 0 0,0 0 0,0 1 0,0-1 0,0 0 0,0 0 1,0 0-1,0 0 0,0 0 0,0 0 0,0 0 0,0 0 0,0 0 0,0 1 0,0-1 0,0 0 0,0 0 0,0 0 0,0 0 0,0 0 1,0 0-1,0 0 0,0 0 0,-13 16-193,12-15 208,-231 231 1447,-23-15 1714,232-203-2372,19-11-504,9-4-126,10-4-162,0 0 1,-1 0-1,1-2 0,-1 0 1,-1 0-1,21-16 0,11-5-119,112-52-1648,-131 69 611,1 1 1,0 1-1,1 1 1,30-4 0,3 9-5057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990E2-4CEA-4221-87C4-1B61D77FCE6E}" type="datetimeFigureOut">
              <a:rPr lang="en-IN" smtClean="0"/>
              <a:t>22-08-2025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6BF28-E5BC-49C3-AF79-75E8F7311ADA}" type="slidenum">
              <a:rPr lang="en-IN" smtClean="0"/>
              <a:t>‹#›</a:t>
            </a:fld>
            <a:endParaRPr lang="en-IN"/>
          </a:p>
        </p:txBody>
      </p:sp>
    </p:spTree>
    <p:extLst>
      <p:ext uri="{BB962C8B-B14F-4D97-AF65-F5344CB8AC3E}">
        <p14:creationId xmlns:p14="http://schemas.microsoft.com/office/powerpoint/2010/main" val="113750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D6BF28-E5BC-49C3-AF79-75E8F7311ADA}" type="slidenum">
              <a:rPr lang="en-IN" smtClean="0"/>
              <a:t>22</a:t>
            </a:fld>
            <a:endParaRPr lang="en-IN"/>
          </a:p>
        </p:txBody>
      </p:sp>
    </p:spTree>
    <p:extLst>
      <p:ext uri="{BB962C8B-B14F-4D97-AF65-F5344CB8AC3E}">
        <p14:creationId xmlns:p14="http://schemas.microsoft.com/office/powerpoint/2010/main" val="2245180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8F668DA-7FAA-436F-88AA-373809EBEDB3}" type="datetimeFigureOut">
              <a:rPr lang="en-IN" smtClean="0"/>
              <a:t>22-08-2025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2187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53136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22-08-2025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4706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859827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F668DA-7FAA-436F-88AA-373809EBEDB3}" type="datetimeFigureOut">
              <a:rPr lang="en-IN" smtClean="0"/>
              <a:t>22-08-2025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141490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F668DA-7FAA-436F-88AA-373809EBEDB3}" type="datetimeFigureOut">
              <a:rPr lang="en-IN" smtClean="0"/>
              <a:t>22-08-2025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2696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668DA-7FAA-436F-88AA-373809EBEDB3}" type="datetimeFigureOut">
              <a:rPr lang="en-IN" smtClean="0"/>
              <a:t>22-08-2025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89686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27866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73094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288984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809367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212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8F668DA-7FAA-436F-88AA-373809EBEDB3}" type="datetimeFigureOut">
              <a:rPr lang="en-IN" smtClean="0"/>
              <a:t>22-08-2025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006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22-08-2025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082779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22-08-2025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01477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929308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8F668DA-7FAA-436F-88AA-373809EBEDB3}" type="datetimeFigureOut">
              <a:rPr lang="en-IN" smtClean="0"/>
              <a:t>22-08-2025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00801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F668DA-7FAA-436F-88AA-373809EBEDB3}" type="datetimeFigureOut">
              <a:rPr lang="en-IN" smtClean="0"/>
              <a:t>22-08-2025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CE840B-79A7-4C25-BC51-14FFF6F66F85}" type="slidenum">
              <a:rPr lang="en-IN" smtClean="0"/>
              <a:t>‹#›</a:t>
            </a:fld>
            <a:endParaRPr lang="en-IN"/>
          </a:p>
        </p:txBody>
      </p:sp>
    </p:spTree>
    <p:extLst>
      <p:ext uri="{BB962C8B-B14F-4D97-AF65-F5344CB8AC3E}">
        <p14:creationId xmlns:p14="http://schemas.microsoft.com/office/powerpoint/2010/main" val="4067826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customXml" Target="../ink/ink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testrigor.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7AF5-38A2-D468-24FC-DADEB4335236}"/>
              </a:ext>
            </a:extLst>
          </p:cNvPr>
          <p:cNvSpPr>
            <a:spLocks noGrp="1"/>
          </p:cNvSpPr>
          <p:nvPr>
            <p:ph type="ctrTitle"/>
          </p:nvPr>
        </p:nvSpPr>
        <p:spPr/>
        <p:txBody>
          <a:bodyPr/>
          <a:lstStyle/>
          <a:p>
            <a:r>
              <a:rPr lang="en-IN" dirty="0">
                <a:latin typeface="Arial Black" panose="020B0A04020102020204" pitchFamily="34" charset="0"/>
              </a:rPr>
              <a:t>AI For software testing</a:t>
            </a:r>
          </a:p>
        </p:txBody>
      </p:sp>
      <p:sp>
        <p:nvSpPr>
          <p:cNvPr id="3" name="Subtitle 2">
            <a:extLst>
              <a:ext uri="{FF2B5EF4-FFF2-40B4-BE49-F238E27FC236}">
                <a16:creationId xmlns:a16="http://schemas.microsoft.com/office/drawing/2014/main" id="{3724154B-D49D-8E8C-736A-ADD463B6364C}"/>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7535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881E-654E-68A0-3CD1-BF70B475293F}"/>
              </a:ext>
            </a:extLst>
          </p:cNvPr>
          <p:cNvSpPr>
            <a:spLocks noGrp="1"/>
          </p:cNvSpPr>
          <p:nvPr>
            <p:ph type="title"/>
          </p:nvPr>
        </p:nvSpPr>
        <p:spPr>
          <a:xfrm>
            <a:off x="2974258" y="262927"/>
            <a:ext cx="8610600" cy="1293028"/>
          </a:xfrm>
        </p:spPr>
        <p:txBody>
          <a:bodyPr/>
          <a:lstStyle/>
          <a:p>
            <a:r>
              <a:rPr lang="en-IN" dirty="0">
                <a:latin typeface="Arial Black" panose="020B0A04020102020204" pitchFamily="34" charset="0"/>
              </a:rPr>
              <a:t>What is AI?</a:t>
            </a:r>
          </a:p>
        </p:txBody>
      </p:sp>
      <p:sp>
        <p:nvSpPr>
          <p:cNvPr id="3" name="Content Placeholder 2">
            <a:extLst>
              <a:ext uri="{FF2B5EF4-FFF2-40B4-BE49-F238E27FC236}">
                <a16:creationId xmlns:a16="http://schemas.microsoft.com/office/drawing/2014/main" id="{74702427-9B47-28A4-1B8C-A18919F5BD1F}"/>
              </a:ext>
            </a:extLst>
          </p:cNvPr>
          <p:cNvSpPr>
            <a:spLocks noGrp="1"/>
          </p:cNvSpPr>
          <p:nvPr>
            <p:ph idx="1"/>
          </p:nvPr>
        </p:nvSpPr>
        <p:spPr>
          <a:xfrm>
            <a:off x="685800" y="1297858"/>
            <a:ext cx="10820400" cy="4920827"/>
          </a:xfrm>
        </p:spPr>
        <p:txBody>
          <a:bodyPr>
            <a:normAutofit/>
          </a:bodyPr>
          <a:lstStyle/>
          <a:p>
            <a:pPr algn="just"/>
            <a:r>
              <a:rPr lang="en-US" dirty="0">
                <a:latin typeface="Bahnschrift" panose="020B0502040204020203" pitchFamily="34" charset="0"/>
              </a:rPr>
              <a:t>AI, or Artificial Intelligence, is technology that allows computers or machines to think and learn like humans.</a:t>
            </a:r>
          </a:p>
          <a:p>
            <a:pPr algn="just"/>
            <a:r>
              <a:rPr lang="en-US" dirty="0">
                <a:latin typeface="Bahnschrift" panose="020B0502040204020203" pitchFamily="34" charset="0"/>
              </a:rPr>
              <a:t> It helps them solve problems, answer questions, and do tasks that usually need human intelligence, like recognizing images, understanding speech, or playing games. </a:t>
            </a:r>
          </a:p>
          <a:p>
            <a:pPr algn="just"/>
            <a:r>
              <a:rPr lang="en-US" dirty="0">
                <a:latin typeface="Bahnschrift" panose="020B0502040204020203" pitchFamily="34" charset="0"/>
              </a:rPr>
              <a:t>In simple words, AI makes machines smart.</a:t>
            </a:r>
          </a:p>
          <a:p>
            <a:pPr algn="just"/>
            <a:endParaRPr lang="en-US" dirty="0">
              <a:latin typeface="Bahnschrift" panose="020B0502040204020203" pitchFamily="34" charset="0"/>
            </a:endParaRPr>
          </a:p>
          <a:p>
            <a:pPr algn="just"/>
            <a:r>
              <a:rPr lang="en-US" b="1" dirty="0">
                <a:latin typeface="Bahnschrift" panose="020B0502040204020203" pitchFamily="34" charset="0"/>
              </a:rPr>
              <a:t>Key Characteristics of AI:</a:t>
            </a:r>
            <a:endParaRPr lang="en-US" dirty="0">
              <a:latin typeface="Bahnschrift" panose="020B0502040204020203" pitchFamily="34" charset="0"/>
            </a:endParaRPr>
          </a:p>
          <a:p>
            <a:pPr algn="just"/>
            <a:r>
              <a:rPr lang="en-US" b="1" dirty="0">
                <a:latin typeface="Bahnschrift" panose="020B0502040204020203" pitchFamily="34" charset="0"/>
              </a:rPr>
              <a:t>Learning:</a:t>
            </a:r>
            <a:r>
              <a:rPr lang="en-US" dirty="0">
                <a:latin typeface="Bahnschrift" panose="020B0502040204020203" pitchFamily="34" charset="0"/>
              </a:rPr>
              <a:t> AI improves as it gets more data, just like people get better with practice.</a:t>
            </a:r>
          </a:p>
          <a:p>
            <a:pPr algn="just"/>
            <a:r>
              <a:rPr lang="en-US" b="1" dirty="0">
                <a:latin typeface="Bahnschrift" panose="020B0502040204020203" pitchFamily="34" charset="0"/>
              </a:rPr>
              <a:t>Reasoning:</a:t>
            </a:r>
            <a:r>
              <a:rPr lang="en-US" dirty="0">
                <a:latin typeface="Bahnschrift" panose="020B0502040204020203" pitchFamily="34" charset="0"/>
              </a:rPr>
              <a:t> AI uses rules and logic to make decisions.</a:t>
            </a:r>
          </a:p>
          <a:p>
            <a:pPr algn="just"/>
            <a:r>
              <a:rPr lang="en-US" b="1" dirty="0">
                <a:latin typeface="Bahnschrift" panose="020B0502040204020203" pitchFamily="34" charset="0"/>
              </a:rPr>
              <a:t>Problem Solving:</a:t>
            </a:r>
            <a:r>
              <a:rPr lang="en-US" dirty="0">
                <a:latin typeface="Bahnschrift" panose="020B0502040204020203" pitchFamily="34" charset="0"/>
              </a:rPr>
              <a:t> It can analyze situations and suggest solutions.</a:t>
            </a:r>
          </a:p>
          <a:p>
            <a:pPr algn="just"/>
            <a:r>
              <a:rPr lang="en-US" b="1" dirty="0">
                <a:latin typeface="Bahnschrift" panose="020B0502040204020203" pitchFamily="34" charset="0"/>
              </a:rPr>
              <a:t>Adaptation:</a:t>
            </a:r>
            <a:r>
              <a:rPr lang="en-US" dirty="0">
                <a:latin typeface="Bahnschrift" panose="020B0502040204020203" pitchFamily="34" charset="0"/>
              </a:rPr>
              <a:t> The more it works, the smarter it gets!</a:t>
            </a:r>
          </a:p>
          <a:p>
            <a:pPr algn="just"/>
            <a:endParaRPr lang="en-IN" dirty="0">
              <a:latin typeface="Bahnschrift" panose="020B0502040204020203" pitchFamily="34" charset="0"/>
            </a:endParaRPr>
          </a:p>
        </p:txBody>
      </p:sp>
    </p:spTree>
    <p:extLst>
      <p:ext uri="{BB962C8B-B14F-4D97-AF65-F5344CB8AC3E}">
        <p14:creationId xmlns:p14="http://schemas.microsoft.com/office/powerpoint/2010/main" val="254080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F7CF-0E77-3DE7-F716-DE3A29BAAD4A}"/>
              </a:ext>
            </a:extLst>
          </p:cNvPr>
          <p:cNvSpPr>
            <a:spLocks noGrp="1"/>
          </p:cNvSpPr>
          <p:nvPr>
            <p:ph type="title"/>
          </p:nvPr>
        </p:nvSpPr>
        <p:spPr>
          <a:xfrm>
            <a:off x="2895600" y="193757"/>
            <a:ext cx="8610600" cy="1293028"/>
          </a:xfrm>
        </p:spPr>
        <p:txBody>
          <a:bodyPr/>
          <a:lstStyle/>
          <a:p>
            <a:r>
              <a:rPr lang="en-IN" dirty="0">
                <a:latin typeface="Arial Black" panose="020B0A04020102020204" pitchFamily="34" charset="0"/>
              </a:rPr>
              <a:t>Real World examples</a:t>
            </a:r>
          </a:p>
        </p:txBody>
      </p:sp>
      <p:sp>
        <p:nvSpPr>
          <p:cNvPr id="3" name="Content Placeholder 2">
            <a:extLst>
              <a:ext uri="{FF2B5EF4-FFF2-40B4-BE49-F238E27FC236}">
                <a16:creationId xmlns:a16="http://schemas.microsoft.com/office/drawing/2014/main" id="{956178CD-EF49-1290-6E01-B8C4B6D3C66B}"/>
              </a:ext>
            </a:extLst>
          </p:cNvPr>
          <p:cNvSpPr>
            <a:spLocks noGrp="1"/>
          </p:cNvSpPr>
          <p:nvPr>
            <p:ph idx="1"/>
          </p:nvPr>
        </p:nvSpPr>
        <p:spPr>
          <a:xfrm>
            <a:off x="176981" y="2027412"/>
            <a:ext cx="5982929" cy="4024125"/>
          </a:xfrm>
        </p:spPr>
        <p:txBody>
          <a:bodyPr/>
          <a:lstStyle/>
          <a:p>
            <a:r>
              <a:rPr lang="en-IN" b="1" dirty="0">
                <a:latin typeface="Bahnschrift" panose="020B0502040204020203" pitchFamily="34" charset="0"/>
              </a:rPr>
              <a:t>AI in Daily Life:</a:t>
            </a:r>
          </a:p>
          <a:p>
            <a:r>
              <a:rPr lang="en-IN" dirty="0">
                <a:latin typeface="Bahnschrift" panose="020B0502040204020203" pitchFamily="34" charset="0"/>
              </a:rPr>
              <a:t>Gmail spam filter → detects unwanted emails.</a:t>
            </a:r>
          </a:p>
          <a:p>
            <a:r>
              <a:rPr lang="en-IN" dirty="0">
                <a:latin typeface="Bahnschrift" panose="020B0502040204020203" pitchFamily="34" charset="0"/>
              </a:rPr>
              <a:t>Google Translate → converts one language to another.</a:t>
            </a:r>
          </a:p>
          <a:p>
            <a:r>
              <a:rPr lang="en-IN" dirty="0">
                <a:latin typeface="Bahnschrift" panose="020B0502040204020203" pitchFamily="34" charset="0"/>
              </a:rPr>
              <a:t>Amazon/Netflix → recommends movies/products.</a:t>
            </a:r>
          </a:p>
          <a:p>
            <a:r>
              <a:rPr lang="en-IN" dirty="0">
                <a:latin typeface="Bahnschrift" panose="020B0502040204020203" pitchFamily="34" charset="0"/>
              </a:rPr>
              <a:t>Tesla → self-driving car decisions.</a:t>
            </a:r>
          </a:p>
          <a:p>
            <a:endParaRPr lang="en-IN" dirty="0"/>
          </a:p>
        </p:txBody>
      </p:sp>
      <p:pic>
        <p:nvPicPr>
          <p:cNvPr id="5" name="Picture 4">
            <a:extLst>
              <a:ext uri="{FF2B5EF4-FFF2-40B4-BE49-F238E27FC236}">
                <a16:creationId xmlns:a16="http://schemas.microsoft.com/office/drawing/2014/main" id="{DF5FAD22-5E76-1D1A-583C-887582BA555C}"/>
              </a:ext>
            </a:extLst>
          </p:cNvPr>
          <p:cNvPicPr>
            <a:picLocks noChangeAspect="1"/>
          </p:cNvPicPr>
          <p:nvPr/>
        </p:nvPicPr>
        <p:blipFill>
          <a:blip r:embed="rId2"/>
          <a:stretch>
            <a:fillRect/>
          </a:stretch>
        </p:blipFill>
        <p:spPr>
          <a:xfrm>
            <a:off x="6312310" y="1172654"/>
            <a:ext cx="5024285" cy="1865443"/>
          </a:xfrm>
          <a:prstGeom prst="rect">
            <a:avLst/>
          </a:prstGeom>
        </p:spPr>
      </p:pic>
      <p:pic>
        <p:nvPicPr>
          <p:cNvPr id="7" name="Picture 6">
            <a:extLst>
              <a:ext uri="{FF2B5EF4-FFF2-40B4-BE49-F238E27FC236}">
                <a16:creationId xmlns:a16="http://schemas.microsoft.com/office/drawing/2014/main" id="{9A9BEBE8-96AF-67AD-D438-5F07B2CDB5C6}"/>
              </a:ext>
            </a:extLst>
          </p:cNvPr>
          <p:cNvPicPr>
            <a:picLocks noChangeAspect="1"/>
          </p:cNvPicPr>
          <p:nvPr/>
        </p:nvPicPr>
        <p:blipFill>
          <a:blip r:embed="rId3"/>
          <a:stretch>
            <a:fillRect/>
          </a:stretch>
        </p:blipFill>
        <p:spPr>
          <a:xfrm>
            <a:off x="6007510" y="2491630"/>
            <a:ext cx="3063505" cy="1722269"/>
          </a:xfrm>
          <a:prstGeom prst="rect">
            <a:avLst/>
          </a:prstGeom>
        </p:spPr>
      </p:pic>
      <p:pic>
        <p:nvPicPr>
          <p:cNvPr id="9" name="Picture 8">
            <a:extLst>
              <a:ext uri="{FF2B5EF4-FFF2-40B4-BE49-F238E27FC236}">
                <a16:creationId xmlns:a16="http://schemas.microsoft.com/office/drawing/2014/main" id="{B933906B-3C38-450F-524A-B59B8FB1FBD3}"/>
              </a:ext>
            </a:extLst>
          </p:cNvPr>
          <p:cNvPicPr>
            <a:picLocks noChangeAspect="1"/>
          </p:cNvPicPr>
          <p:nvPr/>
        </p:nvPicPr>
        <p:blipFill>
          <a:blip r:embed="rId4"/>
          <a:stretch>
            <a:fillRect/>
          </a:stretch>
        </p:blipFill>
        <p:spPr>
          <a:xfrm>
            <a:off x="9577930" y="3156545"/>
            <a:ext cx="2110923" cy="1501270"/>
          </a:xfrm>
          <a:prstGeom prst="rect">
            <a:avLst/>
          </a:prstGeom>
        </p:spPr>
      </p:pic>
      <p:pic>
        <p:nvPicPr>
          <p:cNvPr id="11" name="Picture 10">
            <a:extLst>
              <a:ext uri="{FF2B5EF4-FFF2-40B4-BE49-F238E27FC236}">
                <a16:creationId xmlns:a16="http://schemas.microsoft.com/office/drawing/2014/main" id="{E4D8E309-9C7D-DE48-FAF4-B859CAFCFFD9}"/>
              </a:ext>
            </a:extLst>
          </p:cNvPr>
          <p:cNvPicPr>
            <a:picLocks noChangeAspect="1"/>
          </p:cNvPicPr>
          <p:nvPr/>
        </p:nvPicPr>
        <p:blipFill>
          <a:blip r:embed="rId5"/>
          <a:stretch>
            <a:fillRect/>
          </a:stretch>
        </p:blipFill>
        <p:spPr>
          <a:xfrm>
            <a:off x="6312310" y="4494465"/>
            <a:ext cx="3702601" cy="2021290"/>
          </a:xfrm>
          <a:prstGeom prst="rect">
            <a:avLst/>
          </a:prstGeom>
        </p:spPr>
      </p:pic>
    </p:spTree>
    <p:extLst>
      <p:ext uri="{BB962C8B-B14F-4D97-AF65-F5344CB8AC3E}">
        <p14:creationId xmlns:p14="http://schemas.microsoft.com/office/powerpoint/2010/main" val="1947167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3283-B1FA-2819-D2B7-32CA66F53B65}"/>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LLMs(Large language model)</a:t>
            </a:r>
          </a:p>
        </p:txBody>
      </p:sp>
      <p:sp>
        <p:nvSpPr>
          <p:cNvPr id="3" name="Content Placeholder 2">
            <a:extLst>
              <a:ext uri="{FF2B5EF4-FFF2-40B4-BE49-F238E27FC236}">
                <a16:creationId xmlns:a16="http://schemas.microsoft.com/office/drawing/2014/main" id="{26D7BEB8-2563-28CF-1704-0FF72A314DF7}"/>
              </a:ext>
            </a:extLst>
          </p:cNvPr>
          <p:cNvSpPr>
            <a:spLocks noGrp="1"/>
          </p:cNvSpPr>
          <p:nvPr>
            <p:ph idx="1"/>
          </p:nvPr>
        </p:nvSpPr>
        <p:spPr/>
        <p:txBody>
          <a:bodyPr>
            <a:normAutofit/>
          </a:bodyPr>
          <a:lstStyle/>
          <a:p>
            <a:r>
              <a:rPr lang="en-US" sz="2000" dirty="0">
                <a:latin typeface="Bahnschrift" panose="020B0502040204020203" pitchFamily="34" charset="0"/>
              </a:rPr>
              <a:t>Large Language Models (LLMs) are a type of AI model trained on massive amounts of text data (books, articles, websites, code, etc.).</a:t>
            </a:r>
          </a:p>
          <a:p>
            <a:r>
              <a:rPr lang="en-US" sz="2000" dirty="0">
                <a:latin typeface="Bahnschrift" panose="020B0502040204020203" pitchFamily="34" charset="0"/>
              </a:rPr>
              <a:t>They can understand, process, and generate human-like language.</a:t>
            </a:r>
          </a:p>
          <a:p>
            <a:endParaRPr lang="en-US" sz="2000" dirty="0">
              <a:latin typeface="Bahnschrift" panose="020B0502040204020203" pitchFamily="34" charset="0"/>
            </a:endParaRPr>
          </a:p>
          <a:p>
            <a:r>
              <a:rPr lang="en-US" sz="2000" dirty="0">
                <a:latin typeface="Bahnschrift" panose="020B0502040204020203" pitchFamily="34" charset="0"/>
              </a:rPr>
              <a:t>Why “Large”?</a:t>
            </a:r>
          </a:p>
          <a:p>
            <a:r>
              <a:rPr lang="en-US" sz="2000" dirty="0">
                <a:latin typeface="Bahnschrift" panose="020B0502040204020203" pitchFamily="34" charset="0"/>
              </a:rPr>
              <a:t>Because they are trained on billions or trillions of words.</a:t>
            </a:r>
          </a:p>
          <a:p>
            <a:r>
              <a:rPr lang="en-US" sz="2000" dirty="0">
                <a:latin typeface="Bahnschrift" panose="020B0502040204020203" pitchFamily="34" charset="0"/>
              </a:rPr>
              <a:t>They have billions of parameters (like memory connections in the brain) that help them predict what word, phrase, or sentence should come next.</a:t>
            </a:r>
            <a:endParaRPr lang="en-IN" sz="2000" dirty="0">
              <a:latin typeface="Bahnschrift" panose="020B0502040204020203" pitchFamily="34" charset="0"/>
            </a:endParaRPr>
          </a:p>
        </p:txBody>
      </p:sp>
    </p:spTree>
    <p:extLst>
      <p:ext uri="{BB962C8B-B14F-4D97-AF65-F5344CB8AC3E}">
        <p14:creationId xmlns:p14="http://schemas.microsoft.com/office/powerpoint/2010/main" val="147552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1C20-3725-FC23-E6C3-EFF9D0808946}"/>
              </a:ext>
            </a:extLst>
          </p:cNvPr>
          <p:cNvSpPr>
            <a:spLocks noGrp="1"/>
          </p:cNvSpPr>
          <p:nvPr>
            <p:ph type="title"/>
          </p:nvPr>
        </p:nvSpPr>
        <p:spPr>
          <a:xfrm>
            <a:off x="3072581" y="292424"/>
            <a:ext cx="8610600" cy="1293028"/>
          </a:xfrm>
        </p:spPr>
        <p:txBody>
          <a:bodyPr/>
          <a:lstStyle/>
          <a:p>
            <a:r>
              <a:rPr lang="en-IN" dirty="0">
                <a:latin typeface="Arial Black" panose="020B0A04020102020204" pitchFamily="34" charset="0"/>
              </a:rPr>
              <a:t>What Can LLMs Do?</a:t>
            </a:r>
            <a:br>
              <a:rPr lang="en-IN"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B0DCA13C-D422-BCCD-EAE9-402A51ACF5C7}"/>
              </a:ext>
            </a:extLst>
          </p:cNvPr>
          <p:cNvSpPr>
            <a:spLocks noGrp="1"/>
          </p:cNvSpPr>
          <p:nvPr>
            <p:ph idx="1"/>
          </p:nvPr>
        </p:nvSpPr>
        <p:spPr>
          <a:xfrm>
            <a:off x="685800" y="1435511"/>
            <a:ext cx="10820400" cy="4884010"/>
          </a:xfrm>
        </p:spPr>
        <p:txBody>
          <a:bodyPr>
            <a:normAutofit/>
          </a:bodyPr>
          <a:lstStyle/>
          <a:p>
            <a:r>
              <a:rPr lang="en-IN" sz="2000" dirty="0">
                <a:latin typeface="Bahnschrift" panose="020B0502040204020203" pitchFamily="34" charset="0"/>
              </a:rPr>
              <a:t>Text Generation → Write essays, emails, poems.</a:t>
            </a:r>
          </a:p>
          <a:p>
            <a:r>
              <a:rPr lang="en-IN" sz="2000" dirty="0">
                <a:latin typeface="Bahnschrift" panose="020B0502040204020203" pitchFamily="34" charset="0"/>
              </a:rPr>
              <a:t>Summarization → Condense long articles or documents.</a:t>
            </a:r>
          </a:p>
          <a:p>
            <a:r>
              <a:rPr lang="en-IN" sz="2000" dirty="0">
                <a:latin typeface="Bahnschrift" panose="020B0502040204020203" pitchFamily="34" charset="0"/>
              </a:rPr>
              <a:t>Translation → Convert text between languages.</a:t>
            </a:r>
          </a:p>
          <a:p>
            <a:r>
              <a:rPr lang="en-IN" sz="2000" dirty="0">
                <a:latin typeface="Bahnschrift" panose="020B0502040204020203" pitchFamily="34" charset="0"/>
              </a:rPr>
              <a:t>Question Answering → Like ChatGPT answering queries.</a:t>
            </a:r>
          </a:p>
          <a:p>
            <a:r>
              <a:rPr lang="en-IN" sz="2000" dirty="0">
                <a:latin typeface="Bahnschrift" panose="020B0502040204020203" pitchFamily="34" charset="0"/>
              </a:rPr>
              <a:t>Code Generation → Suggest or write programming code.</a:t>
            </a:r>
          </a:p>
          <a:p>
            <a:r>
              <a:rPr lang="en-IN" sz="2000" dirty="0">
                <a:latin typeface="Bahnschrift" panose="020B0502040204020203" pitchFamily="34" charset="0"/>
              </a:rPr>
              <a:t>Reasoning (to some extent) → Solve logic or math step-by-step.</a:t>
            </a:r>
          </a:p>
          <a:p>
            <a:endParaRPr lang="en-IN" sz="2000" dirty="0">
              <a:latin typeface="Bahnschrift" panose="020B0502040204020203" pitchFamily="34" charset="0"/>
            </a:endParaRPr>
          </a:p>
          <a:p>
            <a:r>
              <a:rPr lang="en-IN" sz="2000" dirty="0">
                <a:latin typeface="Bahnschrift" panose="020B0502040204020203" pitchFamily="34" charset="0"/>
              </a:rPr>
              <a:t>Examples of Popular LLMs</a:t>
            </a:r>
          </a:p>
          <a:p>
            <a:r>
              <a:rPr lang="en-IN" sz="2000" dirty="0">
                <a:latin typeface="Bahnschrift" panose="020B0502040204020203" pitchFamily="34" charset="0"/>
              </a:rPr>
              <a:t>GPT-3 / GPT-4 (OpenAI) → ChatGPT, Claude (Anthropic), Gemini (Google DeepMind),  </a:t>
            </a:r>
            <a:r>
              <a:rPr lang="en-IN" sz="2000" dirty="0" err="1">
                <a:latin typeface="Bahnschrift" panose="020B0502040204020203" pitchFamily="34" charset="0"/>
              </a:rPr>
              <a:t>LLaMA</a:t>
            </a:r>
            <a:r>
              <a:rPr lang="en-IN" sz="2000" dirty="0">
                <a:latin typeface="Bahnschrift" panose="020B0502040204020203" pitchFamily="34" charset="0"/>
              </a:rPr>
              <a:t> (Meta) → Open-source ,Mistral → Lightweight open-source LLM ,DeepSeek → Emerging LLM (China-based)</a:t>
            </a:r>
          </a:p>
        </p:txBody>
      </p:sp>
    </p:spTree>
    <p:extLst>
      <p:ext uri="{BB962C8B-B14F-4D97-AF65-F5344CB8AC3E}">
        <p14:creationId xmlns:p14="http://schemas.microsoft.com/office/powerpoint/2010/main" val="248188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34B3-0E45-21B5-BB42-522256AFA3F8}"/>
              </a:ext>
            </a:extLst>
          </p:cNvPr>
          <p:cNvSpPr>
            <a:spLocks noGrp="1"/>
          </p:cNvSpPr>
          <p:nvPr>
            <p:ph type="title"/>
          </p:nvPr>
        </p:nvSpPr>
        <p:spPr/>
        <p:txBody>
          <a:bodyPr/>
          <a:lstStyle/>
          <a:p>
            <a:r>
              <a:rPr lang="en-IN" dirty="0">
                <a:latin typeface="Arial Black" panose="020B0A04020102020204" pitchFamily="34" charset="0"/>
              </a:rPr>
              <a:t>What is generative ai?</a:t>
            </a:r>
          </a:p>
        </p:txBody>
      </p:sp>
      <p:sp>
        <p:nvSpPr>
          <p:cNvPr id="6" name="Content Placeholder 5">
            <a:extLst>
              <a:ext uri="{FF2B5EF4-FFF2-40B4-BE49-F238E27FC236}">
                <a16:creationId xmlns:a16="http://schemas.microsoft.com/office/drawing/2014/main" id="{5B74EBFB-0C42-135B-D6D5-9454AE9F2B24}"/>
              </a:ext>
            </a:extLst>
          </p:cNvPr>
          <p:cNvSpPr>
            <a:spLocks noGrp="1"/>
          </p:cNvSpPr>
          <p:nvPr>
            <p:ph idx="1"/>
          </p:nvPr>
        </p:nvSpPr>
        <p:spPr/>
        <p:txBody>
          <a:bodyPr/>
          <a:lstStyle/>
          <a:p>
            <a:pPr algn="just"/>
            <a:r>
              <a:rPr lang="en-US" dirty="0">
                <a:latin typeface="Bahnschrift" panose="020B0502040204020203" pitchFamily="34" charset="0"/>
              </a:rPr>
              <a:t>Generative AI is a type of Artificial Intelligence that can create new content (text, images, audio, video, or code) by learning from existing data.</a:t>
            </a:r>
          </a:p>
          <a:p>
            <a:pPr algn="just"/>
            <a:r>
              <a:rPr lang="en-US" dirty="0">
                <a:latin typeface="Bahnschrift" panose="020B0502040204020203" pitchFamily="34" charset="0"/>
              </a:rPr>
              <a:t>Instead of just analyzing or classifying data, it generates original outputs that look like they were made by humans.</a:t>
            </a:r>
          </a:p>
          <a:p>
            <a:endParaRPr lang="en-US" dirty="0"/>
          </a:p>
          <a:p>
            <a:endParaRPr lang="en-IN" dirty="0"/>
          </a:p>
        </p:txBody>
      </p:sp>
    </p:spTree>
    <p:extLst>
      <p:ext uri="{BB962C8B-B14F-4D97-AF65-F5344CB8AC3E}">
        <p14:creationId xmlns:p14="http://schemas.microsoft.com/office/powerpoint/2010/main" val="417617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3133-9867-D8A0-09C0-604A45BD29B4}"/>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75252817-7906-EB39-5A62-9F91FA35DF6B}"/>
              </a:ext>
            </a:extLst>
          </p:cNvPr>
          <p:cNvSpPr>
            <a:spLocks noGrp="1"/>
          </p:cNvSpPr>
          <p:nvPr>
            <p:ph idx="1"/>
          </p:nvPr>
        </p:nvSpPr>
        <p:spPr>
          <a:xfrm>
            <a:off x="685800" y="1966452"/>
            <a:ext cx="10820400" cy="4252233"/>
          </a:xfrm>
        </p:spPr>
        <p:txBody>
          <a:bodyPr/>
          <a:lstStyle/>
          <a:p>
            <a:pPr algn="just"/>
            <a:r>
              <a:rPr lang="en-IN" b="1" dirty="0">
                <a:latin typeface="Bahnschrift" panose="020B0502040204020203" pitchFamily="34" charset="0"/>
              </a:rPr>
              <a:t>1. Text Generation (LLMs)</a:t>
            </a:r>
          </a:p>
          <a:p>
            <a:pPr algn="just"/>
            <a:r>
              <a:rPr lang="en-IN" dirty="0">
                <a:latin typeface="Bahnschrift" panose="020B0502040204020203" pitchFamily="34" charset="0"/>
              </a:rPr>
              <a:t>These models specialize in generating human-like text, answering questions, summarizing, writing essays, or assisting with code.</a:t>
            </a:r>
          </a:p>
          <a:p>
            <a:pPr algn="just"/>
            <a:r>
              <a:rPr lang="en-IN" dirty="0">
                <a:latin typeface="Bahnschrift" panose="020B0502040204020203" pitchFamily="34" charset="0"/>
              </a:rPr>
              <a:t>ChatGPT (OpenAI) → Conversational AI for text, Q&amp;A, essays, coding.</a:t>
            </a:r>
          </a:p>
          <a:p>
            <a:pPr algn="just"/>
            <a:r>
              <a:rPr lang="en-IN" dirty="0">
                <a:latin typeface="Bahnschrift" panose="020B0502040204020203" pitchFamily="34" charset="0"/>
              </a:rPr>
              <a:t>Google Gemini (formerly Bard) → Multimodal AI (text, image, code).</a:t>
            </a:r>
          </a:p>
          <a:p>
            <a:pPr algn="just"/>
            <a:r>
              <a:rPr lang="en-IN" dirty="0">
                <a:latin typeface="Bahnschrift" panose="020B0502040204020203" pitchFamily="34" charset="0"/>
              </a:rPr>
              <a:t>DeepSeek → Open-source Chinese LLM, gaining popularity for research.</a:t>
            </a:r>
          </a:p>
          <a:p>
            <a:pPr algn="just"/>
            <a:r>
              <a:rPr lang="en-IN" dirty="0" err="1">
                <a:latin typeface="Bahnschrift" panose="020B0502040204020203" pitchFamily="34" charset="0"/>
              </a:rPr>
              <a:t>LLaMA</a:t>
            </a:r>
            <a:r>
              <a:rPr lang="en-IN" dirty="0">
                <a:latin typeface="Bahnschrift" panose="020B0502040204020203" pitchFamily="34" charset="0"/>
              </a:rPr>
              <a:t> (Meta) → Open-source large language models (</a:t>
            </a:r>
            <a:r>
              <a:rPr lang="en-IN" dirty="0" err="1">
                <a:latin typeface="Bahnschrift" panose="020B0502040204020203" pitchFamily="34" charset="0"/>
              </a:rPr>
              <a:t>LLaMA</a:t>
            </a:r>
            <a:r>
              <a:rPr lang="en-IN" dirty="0">
                <a:latin typeface="Bahnschrift" panose="020B0502040204020203" pitchFamily="34" charset="0"/>
              </a:rPr>
              <a:t> 2 &amp; 3).</a:t>
            </a:r>
          </a:p>
          <a:p>
            <a:pPr algn="just"/>
            <a:r>
              <a:rPr lang="en-IN" dirty="0">
                <a:latin typeface="Bahnschrift" panose="020B0502040204020203" pitchFamily="34" charset="0"/>
              </a:rPr>
              <a:t>GitHub Copilot (powered by OpenAI Codex) → AI pair programmer for code completion.</a:t>
            </a:r>
          </a:p>
          <a:p>
            <a:endParaRPr lang="en-IN" dirty="0"/>
          </a:p>
        </p:txBody>
      </p:sp>
    </p:spTree>
    <p:extLst>
      <p:ext uri="{BB962C8B-B14F-4D97-AF65-F5344CB8AC3E}">
        <p14:creationId xmlns:p14="http://schemas.microsoft.com/office/powerpoint/2010/main" val="427955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D7EF-BD95-67CF-BBA4-0929A874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54050-49F7-D626-2745-F178F8DBFA85}"/>
              </a:ext>
            </a:extLst>
          </p:cNvPr>
          <p:cNvSpPr>
            <a:spLocks noGrp="1"/>
          </p:cNvSpPr>
          <p:nvPr>
            <p:ph type="title"/>
          </p:nvPr>
        </p:nvSpPr>
        <p:spPr>
          <a:xfrm>
            <a:off x="2054942" y="548063"/>
            <a:ext cx="9451258"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7E5C794-86FD-141B-2373-797BA59B156F}"/>
              </a:ext>
            </a:extLst>
          </p:cNvPr>
          <p:cNvSpPr>
            <a:spLocks noGrp="1"/>
          </p:cNvSpPr>
          <p:nvPr>
            <p:ph idx="1"/>
          </p:nvPr>
        </p:nvSpPr>
        <p:spPr>
          <a:xfrm>
            <a:off x="685800" y="1661652"/>
            <a:ext cx="10820400" cy="4557033"/>
          </a:xfrm>
        </p:spPr>
        <p:txBody>
          <a:bodyPr>
            <a:normAutofit fontScale="85000" lnSpcReduction="20000"/>
          </a:bodyPr>
          <a:lstStyle/>
          <a:p>
            <a:pPr>
              <a:lnSpc>
                <a:spcPct val="100000"/>
              </a:lnSpc>
            </a:pPr>
            <a:r>
              <a:rPr lang="en-US" sz="2400" b="1" dirty="0">
                <a:latin typeface="Bahnschrift" panose="020B0502040204020203" pitchFamily="34" charset="0"/>
              </a:rPr>
              <a:t>2. Image Generation</a:t>
            </a:r>
          </a:p>
          <a:p>
            <a:pPr>
              <a:lnSpc>
                <a:spcPct val="100000"/>
              </a:lnSpc>
            </a:pPr>
            <a:r>
              <a:rPr lang="en-US" sz="2400" dirty="0">
                <a:latin typeface="Bahnschrift" panose="020B0502040204020203" pitchFamily="34" charset="0"/>
              </a:rPr>
              <a:t>These tools create images, artwork, or designs from text prompts.</a:t>
            </a:r>
          </a:p>
          <a:p>
            <a:pPr>
              <a:lnSpc>
                <a:spcPct val="100000"/>
              </a:lnSpc>
            </a:pPr>
            <a:r>
              <a:rPr lang="en-US" sz="2400" dirty="0">
                <a:latin typeface="Bahnschrift" panose="020B0502040204020203" pitchFamily="34" charset="0"/>
              </a:rPr>
              <a:t>DALL·E (OpenAI) → Turns text into creative images and illustrations.</a:t>
            </a:r>
          </a:p>
          <a:p>
            <a:pPr>
              <a:lnSpc>
                <a:spcPct val="100000"/>
              </a:lnSpc>
            </a:pPr>
            <a:r>
              <a:rPr lang="en-US" sz="2400" dirty="0">
                <a:latin typeface="Bahnschrift" panose="020B0502040204020203" pitchFamily="34" charset="0"/>
              </a:rPr>
              <a:t>(Other notable ones you can mention if needed: </a:t>
            </a:r>
            <a:r>
              <a:rPr lang="en-US" sz="2400" dirty="0" err="1">
                <a:latin typeface="Bahnschrift" panose="020B0502040204020203" pitchFamily="34" charset="0"/>
              </a:rPr>
              <a:t>MidJourney</a:t>
            </a:r>
            <a:r>
              <a:rPr lang="en-US" sz="2400" dirty="0">
                <a:latin typeface="Bahnschrift" panose="020B0502040204020203" pitchFamily="34" charset="0"/>
              </a:rPr>
              <a:t>, Stable Diffusion)</a:t>
            </a:r>
          </a:p>
          <a:p>
            <a:pPr>
              <a:lnSpc>
                <a:spcPct val="100000"/>
              </a:lnSpc>
            </a:pPr>
            <a:endParaRPr lang="en-US" sz="2400" dirty="0">
              <a:latin typeface="Bahnschrift" panose="020B0502040204020203" pitchFamily="34" charset="0"/>
            </a:endParaRPr>
          </a:p>
          <a:p>
            <a:pPr>
              <a:lnSpc>
                <a:spcPct val="100000"/>
              </a:lnSpc>
            </a:pPr>
            <a:r>
              <a:rPr lang="en-US" sz="2400" b="1" dirty="0">
                <a:latin typeface="Bahnschrift" panose="020B0502040204020203" pitchFamily="34" charset="0"/>
              </a:rPr>
              <a:t>3. Video Generation</a:t>
            </a:r>
          </a:p>
          <a:p>
            <a:pPr>
              <a:lnSpc>
                <a:spcPct val="100000"/>
              </a:lnSpc>
            </a:pPr>
            <a:r>
              <a:rPr lang="en-US" sz="2400" dirty="0">
                <a:latin typeface="Bahnschrift" panose="020B0502040204020203" pitchFamily="34" charset="0"/>
              </a:rPr>
              <a:t>These tools generate or manipulate videos, animations, and short clips.</a:t>
            </a:r>
            <a:br>
              <a:rPr lang="en-US" sz="2400" dirty="0">
                <a:latin typeface="Bahnschrift" panose="020B0502040204020203" pitchFamily="34" charset="0"/>
              </a:rPr>
            </a:br>
            <a:r>
              <a:rPr lang="en-US" sz="2400" dirty="0">
                <a:latin typeface="Bahnschrift" panose="020B0502040204020203" pitchFamily="34" charset="0"/>
              </a:rPr>
              <a:t>They can even produce realistic videos of people doing or saying things they never actually did.</a:t>
            </a:r>
          </a:p>
          <a:p>
            <a:pPr>
              <a:lnSpc>
                <a:spcPct val="100000"/>
              </a:lnSpc>
            </a:pPr>
            <a:r>
              <a:rPr lang="en-US" sz="2400" dirty="0">
                <a:latin typeface="Bahnschrift" panose="020B0502040204020203" pitchFamily="34" charset="0"/>
              </a:rPr>
              <a:t>Runway ML → Text-to-video &amp; video editing.</a:t>
            </a:r>
          </a:p>
          <a:p>
            <a:pPr>
              <a:lnSpc>
                <a:spcPct val="100000"/>
              </a:lnSpc>
            </a:pPr>
            <a:r>
              <a:rPr lang="en-US" sz="2400" dirty="0" err="1">
                <a:latin typeface="Bahnschrift" panose="020B0502040204020203" pitchFamily="34" charset="0"/>
              </a:rPr>
              <a:t>Pictory</a:t>
            </a:r>
            <a:r>
              <a:rPr lang="en-US" sz="2400" dirty="0">
                <a:latin typeface="Bahnschrift" panose="020B0502040204020203" pitchFamily="34" charset="0"/>
              </a:rPr>
              <a:t> → Creates videos automatically from text or scripts.</a:t>
            </a:r>
          </a:p>
          <a:p>
            <a:pPr>
              <a:lnSpc>
                <a:spcPct val="100000"/>
              </a:lnSpc>
            </a:pPr>
            <a:r>
              <a:rPr lang="en-US" sz="2400" dirty="0" err="1">
                <a:latin typeface="Bahnschrift" panose="020B0502040204020203" pitchFamily="34" charset="0"/>
              </a:rPr>
              <a:t>DeepBrain</a:t>
            </a:r>
            <a:r>
              <a:rPr lang="en-US" sz="2400" dirty="0">
                <a:latin typeface="Bahnschrift" panose="020B0502040204020203" pitchFamily="34" charset="0"/>
              </a:rPr>
              <a:t> → Generates talking avatars from text input.</a:t>
            </a:r>
          </a:p>
          <a:p>
            <a:pPr>
              <a:lnSpc>
                <a:spcPct val="100000"/>
              </a:lnSpc>
            </a:pPr>
            <a:r>
              <a:rPr lang="en-US" sz="2400" dirty="0" err="1">
                <a:latin typeface="Bahnschrift" panose="020B0502040204020203" pitchFamily="34" charset="0"/>
              </a:rPr>
              <a:t>DeepFake</a:t>
            </a:r>
            <a:r>
              <a:rPr lang="en-US" sz="2400" dirty="0">
                <a:latin typeface="Bahnschrift" panose="020B0502040204020203" pitchFamily="34" charset="0"/>
              </a:rPr>
              <a:t> Lab → Creates deepfake-style videos.</a:t>
            </a:r>
          </a:p>
          <a:p>
            <a:endParaRPr lang="en-IN" dirty="0"/>
          </a:p>
        </p:txBody>
      </p:sp>
    </p:spTree>
    <p:extLst>
      <p:ext uri="{BB962C8B-B14F-4D97-AF65-F5344CB8AC3E}">
        <p14:creationId xmlns:p14="http://schemas.microsoft.com/office/powerpoint/2010/main" val="420443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49D4-1FD8-FB8B-7561-2E17917E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BC4E-0073-672A-FBB9-2AAEF69F3952}"/>
              </a:ext>
            </a:extLst>
          </p:cNvPr>
          <p:cNvSpPr>
            <a:spLocks noGrp="1"/>
          </p:cNvSpPr>
          <p:nvPr>
            <p:ph type="title"/>
          </p:nvPr>
        </p:nvSpPr>
        <p:spPr>
          <a:xfrm>
            <a:off x="1907458" y="764373"/>
            <a:ext cx="9598742"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DAA6438-3F89-258B-23CE-30356375A0C3}"/>
              </a:ext>
            </a:extLst>
          </p:cNvPr>
          <p:cNvSpPr>
            <a:spLocks noGrp="1"/>
          </p:cNvSpPr>
          <p:nvPr>
            <p:ph idx="1"/>
          </p:nvPr>
        </p:nvSpPr>
        <p:spPr>
          <a:xfrm>
            <a:off x="685800" y="1966452"/>
            <a:ext cx="10820400" cy="4252233"/>
          </a:xfrm>
        </p:spPr>
        <p:txBody>
          <a:bodyPr/>
          <a:lstStyle/>
          <a:p>
            <a:pPr>
              <a:lnSpc>
                <a:spcPct val="80000"/>
              </a:lnSpc>
            </a:pPr>
            <a:r>
              <a:rPr lang="en-IN" sz="2000" b="1" dirty="0">
                <a:latin typeface="Bahnschrift" panose="020B0502040204020203" pitchFamily="34" charset="0"/>
              </a:rPr>
              <a:t>4. Music Composition</a:t>
            </a:r>
          </a:p>
          <a:p>
            <a:pPr>
              <a:lnSpc>
                <a:spcPct val="80000"/>
              </a:lnSpc>
            </a:pPr>
            <a:r>
              <a:rPr lang="en-IN" sz="2000" dirty="0">
                <a:latin typeface="Bahnschrift" panose="020B0502040204020203" pitchFamily="34" charset="0"/>
              </a:rPr>
              <a:t>These tools generate original music, beats, or soundtracks based on user input or style.</a:t>
            </a:r>
          </a:p>
          <a:p>
            <a:pPr>
              <a:lnSpc>
                <a:spcPct val="80000"/>
              </a:lnSpc>
            </a:pPr>
            <a:r>
              <a:rPr lang="en-IN" sz="2000" dirty="0" err="1">
                <a:latin typeface="Bahnschrift" panose="020B0502040204020203" pitchFamily="34" charset="0"/>
              </a:rPr>
              <a:t>Jukedeck</a:t>
            </a:r>
            <a:r>
              <a:rPr lang="en-IN" sz="2000" dirty="0">
                <a:latin typeface="Bahnschrift" panose="020B0502040204020203" pitchFamily="34" charset="0"/>
              </a:rPr>
              <a:t> → AI-generated music for videos.</a:t>
            </a:r>
          </a:p>
          <a:p>
            <a:pPr>
              <a:lnSpc>
                <a:spcPct val="80000"/>
              </a:lnSpc>
            </a:pPr>
            <a:r>
              <a:rPr lang="en-IN" sz="2000" dirty="0">
                <a:latin typeface="Bahnschrift" panose="020B0502040204020203" pitchFamily="34" charset="0"/>
              </a:rPr>
              <a:t>OpenAI’s </a:t>
            </a:r>
            <a:r>
              <a:rPr lang="en-IN" sz="2000" dirty="0" err="1">
                <a:latin typeface="Bahnschrift" panose="020B0502040204020203" pitchFamily="34" charset="0"/>
              </a:rPr>
              <a:t>MuseNet</a:t>
            </a:r>
            <a:r>
              <a:rPr lang="en-IN" sz="2000" dirty="0">
                <a:latin typeface="Bahnschrift" panose="020B0502040204020203" pitchFamily="34" charset="0"/>
              </a:rPr>
              <a:t> → Composes music in multiple styles (classical, jazz, pop).</a:t>
            </a:r>
          </a:p>
          <a:p>
            <a:endParaRPr lang="en-IN" dirty="0"/>
          </a:p>
        </p:txBody>
      </p:sp>
    </p:spTree>
    <p:extLst>
      <p:ext uri="{BB962C8B-B14F-4D97-AF65-F5344CB8AC3E}">
        <p14:creationId xmlns:p14="http://schemas.microsoft.com/office/powerpoint/2010/main" val="285296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8F5-5CD5-B20D-0B89-A28419797E82}"/>
              </a:ext>
            </a:extLst>
          </p:cNvPr>
          <p:cNvSpPr>
            <a:spLocks noGrp="1"/>
          </p:cNvSpPr>
          <p:nvPr>
            <p:ph type="title"/>
          </p:nvPr>
        </p:nvSpPr>
        <p:spPr/>
        <p:txBody>
          <a:bodyPr/>
          <a:lstStyle/>
          <a:p>
            <a:r>
              <a:rPr lang="en-IN" dirty="0">
                <a:latin typeface="Arial Black" panose="020B0A04020102020204" pitchFamily="34" charset="0"/>
              </a:rPr>
              <a:t>Ai vs generative ai</a:t>
            </a:r>
          </a:p>
        </p:txBody>
      </p:sp>
      <p:sp>
        <p:nvSpPr>
          <p:cNvPr id="3" name="Content Placeholder 2">
            <a:extLst>
              <a:ext uri="{FF2B5EF4-FFF2-40B4-BE49-F238E27FC236}">
                <a16:creationId xmlns:a16="http://schemas.microsoft.com/office/drawing/2014/main" id="{310854C5-DAED-D2D1-77C2-A7D0D71C1B56}"/>
              </a:ext>
            </a:extLst>
          </p:cNvPr>
          <p:cNvSpPr>
            <a:spLocks noGrp="1"/>
          </p:cNvSpPr>
          <p:nvPr>
            <p:ph idx="1"/>
          </p:nvPr>
        </p:nvSpPr>
        <p:spPr/>
        <p:txBody>
          <a:bodyPr/>
          <a:lstStyle/>
          <a:p>
            <a:pPr>
              <a:lnSpc>
                <a:spcPct val="80000"/>
              </a:lnSpc>
            </a:pPr>
            <a:r>
              <a:rPr lang="en-US" sz="2000" dirty="0">
                <a:latin typeface="Bahnschrift" panose="020B0502040204020203" pitchFamily="34" charset="0"/>
              </a:rPr>
              <a:t>AI focuses on performing tasks and making decisions based on data, mimicking human behavior (e.g., recognizing images, responding to queries).</a:t>
            </a:r>
          </a:p>
          <a:p>
            <a:pPr>
              <a:lnSpc>
                <a:spcPct val="80000"/>
              </a:lnSpc>
            </a:pPr>
            <a:r>
              <a:rPr lang="en-US" sz="2000" dirty="0">
                <a:latin typeface="Bahnschrift" panose="020B0502040204020203" pitchFamily="34" charset="0"/>
              </a:rPr>
              <a:t>Generative AI specializes in creating or generating new content from learned patterns, going beyond decision-making to creativity. </a:t>
            </a:r>
          </a:p>
          <a:p>
            <a:endParaRPr lang="en-IN" dirty="0"/>
          </a:p>
        </p:txBody>
      </p:sp>
      <p:graphicFrame>
        <p:nvGraphicFramePr>
          <p:cNvPr id="4" name="Table 3">
            <a:extLst>
              <a:ext uri="{FF2B5EF4-FFF2-40B4-BE49-F238E27FC236}">
                <a16:creationId xmlns:a16="http://schemas.microsoft.com/office/drawing/2014/main" id="{2DD66F84-1C92-B34B-9645-EB670CDFCBE7}"/>
              </a:ext>
            </a:extLst>
          </p:cNvPr>
          <p:cNvGraphicFramePr>
            <a:graphicFrameLocks noGrp="1"/>
          </p:cNvGraphicFramePr>
          <p:nvPr>
            <p:extLst>
              <p:ext uri="{D42A27DB-BD31-4B8C-83A1-F6EECF244321}">
                <p14:modId xmlns:p14="http://schemas.microsoft.com/office/powerpoint/2010/main" val="2012576631"/>
              </p:ext>
            </p:extLst>
          </p:nvPr>
        </p:nvGraphicFramePr>
        <p:xfrm>
          <a:off x="883674" y="3628103"/>
          <a:ext cx="10424651" cy="2857254"/>
        </p:xfrm>
        <a:graphic>
          <a:graphicData uri="http://schemas.openxmlformats.org/drawingml/2006/table">
            <a:tbl>
              <a:tblPr>
                <a:tableStyleId>{69C7853C-536D-4A76-A0AE-DD22124D55A5}</a:tableStyleId>
              </a:tblPr>
              <a:tblGrid>
                <a:gridCol w="1619563">
                  <a:extLst>
                    <a:ext uri="{9D8B030D-6E8A-4147-A177-3AD203B41FA5}">
                      <a16:colId xmlns:a16="http://schemas.microsoft.com/office/drawing/2014/main" val="93718715"/>
                    </a:ext>
                  </a:extLst>
                </a:gridCol>
                <a:gridCol w="4402544">
                  <a:extLst>
                    <a:ext uri="{9D8B030D-6E8A-4147-A177-3AD203B41FA5}">
                      <a16:colId xmlns:a16="http://schemas.microsoft.com/office/drawing/2014/main" val="513175475"/>
                    </a:ext>
                  </a:extLst>
                </a:gridCol>
                <a:gridCol w="4402544">
                  <a:extLst>
                    <a:ext uri="{9D8B030D-6E8A-4147-A177-3AD203B41FA5}">
                      <a16:colId xmlns:a16="http://schemas.microsoft.com/office/drawing/2014/main" val="2128417762"/>
                    </a:ext>
                  </a:extLst>
                </a:gridCol>
              </a:tblGrid>
              <a:tr h="800031">
                <a:tc>
                  <a:txBody>
                    <a:bodyPr/>
                    <a:lstStyle/>
                    <a:p>
                      <a:pPr>
                        <a:buNone/>
                      </a:pPr>
                      <a:endParaRPr lang="en-IN" b="1" dirty="0">
                        <a:effectLst/>
                      </a:endParaRPr>
                    </a:p>
                  </a:txBody>
                  <a:tcPr marL="99060" marR="99060" anchor="ctr"/>
                </a:tc>
                <a:tc>
                  <a:txBody>
                    <a:bodyPr/>
                    <a:lstStyle/>
                    <a:p>
                      <a:pPr>
                        <a:buNone/>
                      </a:pPr>
                      <a:r>
                        <a:rPr lang="en-IN" b="1" dirty="0">
                          <a:effectLst/>
                        </a:rPr>
                        <a:t>AI</a:t>
                      </a:r>
                    </a:p>
                  </a:txBody>
                  <a:tcPr marL="99060" marR="990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Generative AI</a:t>
                      </a:r>
                    </a:p>
                    <a:p>
                      <a:endParaRPr lang="en-IN" dirty="0"/>
                    </a:p>
                  </a:txBody>
                  <a:tcPr/>
                </a:tc>
                <a:extLst>
                  <a:ext uri="{0D108BD9-81ED-4DB2-BD59-A6C34878D82A}">
                    <a16:rowId xmlns:a16="http://schemas.microsoft.com/office/drawing/2014/main" val="3488971212"/>
                  </a:ext>
                </a:extLst>
              </a:tr>
              <a:tr h="800031">
                <a:tc>
                  <a:txBody>
                    <a:bodyPr/>
                    <a:lstStyle/>
                    <a:p>
                      <a:pPr>
                        <a:buNone/>
                      </a:pPr>
                      <a:r>
                        <a:rPr lang="en-IN" b="1">
                          <a:effectLst/>
                        </a:rPr>
                        <a:t>Main Use</a:t>
                      </a:r>
                      <a:endParaRPr lang="en-IN">
                        <a:effectLst/>
                      </a:endParaRPr>
                    </a:p>
                  </a:txBody>
                  <a:tcPr marL="99060" marR="99060" anchor="ctr"/>
                </a:tc>
                <a:tc>
                  <a:txBody>
                    <a:bodyPr/>
                    <a:lstStyle/>
                    <a:p>
                      <a:pPr>
                        <a:buNone/>
                      </a:pPr>
                      <a:r>
                        <a:rPr lang="en-US" dirty="0">
                          <a:effectLst/>
                        </a:rPr>
                        <a:t>Understands, analyzes, and acts on data</a:t>
                      </a:r>
                    </a:p>
                  </a:txBody>
                  <a:tcPr marL="99060" marR="99060" anchor="ctr"/>
                </a:tc>
                <a:tc>
                  <a:txBody>
                    <a:bodyPr/>
                    <a:lstStyle/>
                    <a:p>
                      <a:pPr>
                        <a:buNone/>
                      </a:pPr>
                      <a:r>
                        <a:rPr lang="en-US" dirty="0">
                          <a:effectLst/>
                        </a:rPr>
                        <a:t>Creates new content or data</a:t>
                      </a:r>
                    </a:p>
                  </a:txBody>
                  <a:tcPr marL="99060" marR="99060" anchor="ctr"/>
                </a:tc>
                <a:extLst>
                  <a:ext uri="{0D108BD9-81ED-4DB2-BD59-A6C34878D82A}">
                    <a16:rowId xmlns:a16="http://schemas.microsoft.com/office/drawing/2014/main" val="3335467968"/>
                  </a:ext>
                </a:extLst>
              </a:tr>
              <a:tr h="800031">
                <a:tc>
                  <a:txBody>
                    <a:bodyPr/>
                    <a:lstStyle/>
                    <a:p>
                      <a:pPr>
                        <a:buNone/>
                      </a:pPr>
                      <a:r>
                        <a:rPr lang="en-IN" b="1">
                          <a:effectLst/>
                        </a:rPr>
                        <a:t>Output</a:t>
                      </a:r>
                      <a:endParaRPr lang="en-IN">
                        <a:effectLst/>
                      </a:endParaRPr>
                    </a:p>
                  </a:txBody>
                  <a:tcPr marL="99060" marR="99060" anchor="ctr"/>
                </a:tc>
                <a:tc>
                  <a:txBody>
                    <a:bodyPr/>
                    <a:lstStyle/>
                    <a:p>
                      <a:pPr>
                        <a:buNone/>
                      </a:pPr>
                      <a:r>
                        <a:rPr lang="en-IN" dirty="0">
                          <a:effectLst/>
                        </a:rPr>
                        <a:t>Answers, classifications, recommendations</a:t>
                      </a:r>
                    </a:p>
                  </a:txBody>
                  <a:tcPr marL="99060" marR="99060" anchor="ctr"/>
                </a:tc>
                <a:tc>
                  <a:txBody>
                    <a:bodyPr/>
                    <a:lstStyle/>
                    <a:p>
                      <a:pPr>
                        <a:buNone/>
                      </a:pPr>
                      <a:r>
                        <a:rPr lang="fr-FR">
                          <a:effectLst/>
                        </a:rPr>
                        <a:t>Text, images, music, code, etc.</a:t>
                      </a:r>
                    </a:p>
                  </a:txBody>
                  <a:tcPr marL="99060" marR="99060" anchor="ctr"/>
                </a:tc>
                <a:extLst>
                  <a:ext uri="{0D108BD9-81ED-4DB2-BD59-A6C34878D82A}">
                    <a16:rowId xmlns:a16="http://schemas.microsoft.com/office/drawing/2014/main" val="1487527044"/>
                  </a:ext>
                </a:extLst>
              </a:tr>
              <a:tr h="457161">
                <a:tc>
                  <a:txBody>
                    <a:bodyPr/>
                    <a:lstStyle/>
                    <a:p>
                      <a:pPr>
                        <a:buNone/>
                      </a:pPr>
                      <a:r>
                        <a:rPr lang="en-IN" b="1">
                          <a:effectLst/>
                        </a:rPr>
                        <a:t>Examples</a:t>
                      </a:r>
                      <a:endParaRPr lang="en-IN">
                        <a:effectLst/>
                      </a:endParaRPr>
                    </a:p>
                  </a:txBody>
                  <a:tcPr marL="99060" marR="99060" anchor="ctr"/>
                </a:tc>
                <a:tc>
                  <a:txBody>
                    <a:bodyPr/>
                    <a:lstStyle/>
                    <a:p>
                      <a:pPr>
                        <a:buNone/>
                      </a:pPr>
                      <a:r>
                        <a:rPr lang="en-IN">
                          <a:effectLst/>
                        </a:rPr>
                        <a:t>Spam filter, Face ID, voice assistants</a:t>
                      </a:r>
                    </a:p>
                  </a:txBody>
                  <a:tcPr marL="99060" marR="99060" anchor="ctr"/>
                </a:tc>
                <a:tc>
                  <a:txBody>
                    <a:bodyPr/>
                    <a:lstStyle/>
                    <a:p>
                      <a:pPr>
                        <a:buNone/>
                      </a:pPr>
                      <a:r>
                        <a:rPr lang="en-IN" dirty="0">
                          <a:effectLst/>
                        </a:rPr>
                        <a:t>ChatGPT, DALL-E, music generators</a:t>
                      </a:r>
                    </a:p>
                  </a:txBody>
                  <a:tcPr marL="99060" marR="99060" anchor="ctr"/>
                </a:tc>
                <a:extLst>
                  <a:ext uri="{0D108BD9-81ED-4DB2-BD59-A6C34878D82A}">
                    <a16:rowId xmlns:a16="http://schemas.microsoft.com/office/drawing/2014/main" val="3365963949"/>
                  </a:ext>
                </a:extLst>
              </a:tr>
            </a:tbl>
          </a:graphicData>
        </a:graphic>
      </p:graphicFrame>
    </p:spTree>
    <p:extLst>
      <p:ext uri="{BB962C8B-B14F-4D97-AF65-F5344CB8AC3E}">
        <p14:creationId xmlns:p14="http://schemas.microsoft.com/office/powerpoint/2010/main" val="853012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EDEB-063E-9439-A85E-249E97B1D969}"/>
              </a:ext>
            </a:extLst>
          </p:cNvPr>
          <p:cNvSpPr>
            <a:spLocks noGrp="1"/>
          </p:cNvSpPr>
          <p:nvPr>
            <p:ph type="title"/>
          </p:nvPr>
        </p:nvSpPr>
        <p:spPr>
          <a:xfrm>
            <a:off x="1620192" y="378870"/>
            <a:ext cx="10571808" cy="938653"/>
          </a:xfrm>
        </p:spPr>
        <p:txBody>
          <a:bodyPr anchor="t"/>
          <a:lstStyle/>
          <a:p>
            <a:pPr algn="ctr"/>
            <a:r>
              <a:rPr lang="en-IN" dirty="0">
                <a:latin typeface="Arial Black" panose="020B0A04020102020204" pitchFamily="34" charset="0"/>
              </a:rPr>
              <a:t>Why </a:t>
            </a:r>
            <a:r>
              <a:rPr lang="en-IN" dirty="0" err="1">
                <a:latin typeface="Arial Black" panose="020B0A04020102020204" pitchFamily="34" charset="0"/>
              </a:rPr>
              <a:t>qa</a:t>
            </a:r>
            <a:r>
              <a:rPr lang="en-IN" dirty="0">
                <a:latin typeface="Arial Black" panose="020B0A04020102020204" pitchFamily="34" charset="0"/>
              </a:rPr>
              <a:t> should learn GEN AI?</a:t>
            </a:r>
          </a:p>
        </p:txBody>
      </p:sp>
      <p:sp>
        <p:nvSpPr>
          <p:cNvPr id="3" name="Content Placeholder 2">
            <a:extLst>
              <a:ext uri="{FF2B5EF4-FFF2-40B4-BE49-F238E27FC236}">
                <a16:creationId xmlns:a16="http://schemas.microsoft.com/office/drawing/2014/main" id="{47C56260-5B12-F0F2-5E44-B364A1721F9B}"/>
              </a:ext>
            </a:extLst>
          </p:cNvPr>
          <p:cNvSpPr>
            <a:spLocks noGrp="1"/>
          </p:cNvSpPr>
          <p:nvPr>
            <p:ph idx="1"/>
          </p:nvPr>
        </p:nvSpPr>
        <p:spPr>
          <a:xfrm>
            <a:off x="314632" y="914400"/>
            <a:ext cx="11503742" cy="5781040"/>
          </a:xfrm>
        </p:spPr>
        <p:txBody>
          <a:bodyPr>
            <a:noAutofit/>
          </a:bodyPr>
          <a:lstStyle/>
          <a:p>
            <a:pPr algn="just"/>
            <a:r>
              <a:rPr lang="en-US" sz="2000" b="1" dirty="0">
                <a:latin typeface="Bahnschrift" panose="020B0502040204020203" pitchFamily="34" charset="0"/>
              </a:rPr>
              <a:t>1. Automate Test Case Creation: </a:t>
            </a:r>
            <a:r>
              <a:rPr lang="en-US" sz="2000" dirty="0">
                <a:latin typeface="Bahnschrift" panose="020B0502040204020203" pitchFamily="34" charset="0"/>
              </a:rPr>
              <a:t>Generative AI can quickly generate test cases, test scripts, and test data based on requirements. This saves time and helps testers cover more scenarios, including edge cases they might miss manually.</a:t>
            </a:r>
          </a:p>
          <a:p>
            <a:pPr algn="just"/>
            <a:r>
              <a:rPr lang="en-US" sz="2000" b="1" dirty="0">
                <a:latin typeface="Bahnschrift" panose="020B0502040204020203" pitchFamily="34" charset="0"/>
              </a:rPr>
              <a:t>2. Improve Test Coverage: </a:t>
            </a:r>
            <a:r>
              <a:rPr lang="en-US" sz="2000" dirty="0">
                <a:latin typeface="Bahnschrift" panose="020B0502040204020203" pitchFamily="34" charset="0"/>
              </a:rPr>
              <a:t>Generative AI can analyze huge amounts of data, learn from past bugs or user behavior, and suggest new areas to test. This leads to better test coverage and higher-quality products.</a:t>
            </a:r>
          </a:p>
          <a:p>
            <a:pPr algn="just"/>
            <a:r>
              <a:rPr lang="en-US" sz="2000" b="1" dirty="0">
                <a:latin typeface="Bahnschrift" panose="020B0502040204020203" pitchFamily="34" charset="0"/>
              </a:rPr>
              <a:t>3. Faster Bug Detection: </a:t>
            </a:r>
            <a:r>
              <a:rPr lang="en-US" sz="2000" dirty="0">
                <a:latin typeface="Bahnschrift" panose="020B0502040204020203" pitchFamily="34" charset="0"/>
              </a:rPr>
              <a:t>By automatically generating and running tests, AI can help catch bugs earlier and more efficiently, reducing the time between development and release.</a:t>
            </a:r>
          </a:p>
          <a:p>
            <a:pPr algn="just"/>
            <a:r>
              <a:rPr lang="en-US" sz="2000" b="1" dirty="0">
                <a:latin typeface="Bahnschrift" panose="020B0502040204020203" pitchFamily="34" charset="0"/>
              </a:rPr>
              <a:t>4. Smarter Test Automation: </a:t>
            </a:r>
            <a:r>
              <a:rPr lang="en-US" sz="2000" dirty="0">
                <a:latin typeface="Bahnschrift" panose="020B0502040204020203" pitchFamily="34" charset="0"/>
              </a:rPr>
              <a:t>AI tools can adapt to changes in the software (like UI changes) and update tests automatically, making maintenance easier and less time-consuming for testers.</a:t>
            </a:r>
          </a:p>
          <a:p>
            <a:pPr algn="just"/>
            <a:r>
              <a:rPr lang="en-US" sz="2000" b="1" dirty="0">
                <a:latin typeface="Bahnschrift" panose="020B0502040204020203" pitchFamily="34" charset="0"/>
              </a:rPr>
              <a:t>5. Stay Relevant in the Industry: </a:t>
            </a:r>
            <a:r>
              <a:rPr lang="en-US" sz="2000" dirty="0">
                <a:latin typeface="Bahnschrift" panose="020B0502040204020203" pitchFamily="34" charset="0"/>
              </a:rPr>
              <a:t>AI is becoming a core part of modern software development and testing. Learning how to use Generative AI keeps QA testers up-to-date and more valuable in their careers.</a:t>
            </a:r>
          </a:p>
          <a:p>
            <a:pPr algn="just"/>
            <a:r>
              <a:rPr lang="en-US" sz="2000" b="1" dirty="0">
                <a:latin typeface="Bahnschrift" panose="020B0502040204020203" pitchFamily="34" charset="0"/>
              </a:rPr>
              <a:t>6. Enhance Reporting and Analysis: </a:t>
            </a:r>
            <a:r>
              <a:rPr lang="en-US" sz="2000" dirty="0">
                <a:latin typeface="Bahnschrift" panose="020B0502040204020203" pitchFamily="34" charset="0"/>
              </a:rPr>
              <a:t>Generative AI can help create detailed bug reports, analyze test results, and even summarize findings in clear language, making communication easier between testers and developers.</a:t>
            </a:r>
          </a:p>
          <a:p>
            <a:pPr algn="just"/>
            <a:r>
              <a:rPr lang="en-US" sz="2000" b="1" dirty="0">
                <a:latin typeface="Bahnschrift" panose="020B0502040204020203" pitchFamily="34" charset="0"/>
              </a:rPr>
              <a:t>7.Continuous Learning and Adaptation: </a:t>
            </a:r>
            <a:r>
              <a:rPr lang="en-US" sz="2000" dirty="0">
                <a:latin typeface="Bahnschrift" panose="020B0502040204020203" pitchFamily="34" charset="0"/>
              </a:rPr>
              <a:t>Generative AI can help testers learn new testing techniques and approaches by analyzing industry trends and suggesting improvements.</a:t>
            </a:r>
          </a:p>
          <a:p>
            <a:pPr marL="0" indent="0" algn="just">
              <a:buNone/>
            </a:pPr>
            <a:endParaRPr lang="en-IN" sz="1200" dirty="0"/>
          </a:p>
        </p:txBody>
      </p:sp>
    </p:spTree>
    <p:extLst>
      <p:ext uri="{BB962C8B-B14F-4D97-AF65-F5344CB8AC3E}">
        <p14:creationId xmlns:p14="http://schemas.microsoft.com/office/powerpoint/2010/main" val="16127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987E-BEC5-07D9-CFE1-70DDAA3D1670}"/>
              </a:ext>
            </a:extLst>
          </p:cNvPr>
          <p:cNvSpPr>
            <a:spLocks noGrp="1"/>
          </p:cNvSpPr>
          <p:nvPr>
            <p:ph type="title"/>
          </p:nvPr>
        </p:nvSpPr>
        <p:spPr/>
        <p:txBody>
          <a:bodyPr/>
          <a:lstStyle/>
          <a:p>
            <a:r>
              <a:rPr lang="en-IN" dirty="0">
                <a:latin typeface="Arial Black" panose="020B0A04020102020204" pitchFamily="34" charset="0"/>
              </a:rPr>
              <a:t>Popular generative ai models</a:t>
            </a:r>
          </a:p>
        </p:txBody>
      </p:sp>
      <p:sp>
        <p:nvSpPr>
          <p:cNvPr id="3" name="Content Placeholder 2">
            <a:extLst>
              <a:ext uri="{FF2B5EF4-FFF2-40B4-BE49-F238E27FC236}">
                <a16:creationId xmlns:a16="http://schemas.microsoft.com/office/drawing/2014/main" id="{43C4089B-CFB8-C789-B1C2-543703B88E08}"/>
              </a:ext>
            </a:extLst>
          </p:cNvPr>
          <p:cNvSpPr>
            <a:spLocks noGrp="1"/>
          </p:cNvSpPr>
          <p:nvPr>
            <p:ph idx="1"/>
          </p:nvPr>
        </p:nvSpPr>
        <p:spPr/>
        <p:txBody>
          <a:bodyPr>
            <a:normAutofit/>
          </a:bodyPr>
          <a:lstStyle/>
          <a:p>
            <a:pPr>
              <a:lnSpc>
                <a:spcPct val="80000"/>
              </a:lnSpc>
            </a:pPr>
            <a:r>
              <a:rPr lang="en-IN" sz="2000" b="1" dirty="0">
                <a:latin typeface="Bahnschrift" panose="020B0502040204020203" pitchFamily="34" charset="0"/>
              </a:rPr>
              <a:t>ChatGPT: </a:t>
            </a:r>
            <a:r>
              <a:rPr lang="en-IN" sz="2000" dirty="0">
                <a:latin typeface="Bahnschrift" panose="020B0502040204020203" pitchFamily="34" charset="0"/>
              </a:rPr>
              <a:t>A text-based AI model that can answer questions, write content, and assist with coding. </a:t>
            </a:r>
          </a:p>
          <a:p>
            <a:pPr>
              <a:lnSpc>
                <a:spcPct val="80000"/>
              </a:lnSpc>
            </a:pPr>
            <a:r>
              <a:rPr lang="en-IN" sz="2000" b="1" dirty="0">
                <a:latin typeface="Bahnschrift" panose="020B0502040204020203" pitchFamily="34" charset="0"/>
              </a:rPr>
              <a:t>Google Gemini: </a:t>
            </a:r>
            <a:r>
              <a:rPr lang="en-IN" sz="2000" dirty="0">
                <a:latin typeface="Bahnschrift" panose="020B0502040204020203" pitchFamily="34" charset="0"/>
              </a:rPr>
              <a:t>Google’s AI model designed for advanced text generation and problem-solving. </a:t>
            </a:r>
          </a:p>
          <a:p>
            <a:pPr>
              <a:lnSpc>
                <a:spcPct val="80000"/>
              </a:lnSpc>
            </a:pPr>
            <a:r>
              <a:rPr lang="en-IN" sz="2000" b="1" dirty="0">
                <a:latin typeface="Bahnschrift" panose="020B0502040204020203" pitchFamily="34" charset="0"/>
              </a:rPr>
              <a:t>DeepSeek: </a:t>
            </a:r>
            <a:r>
              <a:rPr lang="en-IN" sz="2000" dirty="0">
                <a:latin typeface="Bahnschrift" panose="020B0502040204020203" pitchFamily="34" charset="0"/>
              </a:rPr>
              <a:t>A generative AI tool focused on creating high-quality text content. </a:t>
            </a:r>
          </a:p>
          <a:p>
            <a:pPr>
              <a:lnSpc>
                <a:spcPct val="80000"/>
              </a:lnSpc>
            </a:pPr>
            <a:r>
              <a:rPr lang="en-IN" sz="2000" b="1" dirty="0">
                <a:latin typeface="Bahnschrift" panose="020B0502040204020203" pitchFamily="34" charset="0"/>
              </a:rPr>
              <a:t>GitHub Copilot: </a:t>
            </a:r>
            <a:r>
              <a:rPr lang="en-IN" sz="2000" dirty="0">
                <a:latin typeface="Bahnschrift" panose="020B0502040204020203" pitchFamily="34" charset="0"/>
              </a:rPr>
              <a:t>An AI-powered coding assistant that helps developers write code faster and more efficiently. </a:t>
            </a:r>
          </a:p>
        </p:txBody>
      </p:sp>
    </p:spTree>
    <p:extLst>
      <p:ext uri="{BB962C8B-B14F-4D97-AF65-F5344CB8AC3E}">
        <p14:creationId xmlns:p14="http://schemas.microsoft.com/office/powerpoint/2010/main" val="416826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E43F-F52F-CBE7-E009-E0728E01F874}"/>
              </a:ext>
            </a:extLst>
          </p:cNvPr>
          <p:cNvSpPr>
            <a:spLocks noGrp="1"/>
          </p:cNvSpPr>
          <p:nvPr>
            <p:ph type="title"/>
          </p:nvPr>
        </p:nvSpPr>
        <p:spPr>
          <a:xfrm>
            <a:off x="2895600" y="185253"/>
            <a:ext cx="8610600" cy="1293028"/>
          </a:xfrm>
        </p:spPr>
        <p:txBody>
          <a:bodyPr/>
          <a:lstStyle/>
          <a:p>
            <a:r>
              <a:rPr lang="en-IN" dirty="0">
                <a:latin typeface="Arial Black" panose="020B0A04020102020204" pitchFamily="34" charset="0"/>
              </a:rPr>
              <a:t>Prompt Engineering</a:t>
            </a:r>
          </a:p>
        </p:txBody>
      </p:sp>
      <p:sp>
        <p:nvSpPr>
          <p:cNvPr id="3" name="Content Placeholder 2">
            <a:extLst>
              <a:ext uri="{FF2B5EF4-FFF2-40B4-BE49-F238E27FC236}">
                <a16:creationId xmlns:a16="http://schemas.microsoft.com/office/drawing/2014/main" id="{8FB9A6DA-F177-5EB0-64A5-9BAEB7F799BD}"/>
              </a:ext>
            </a:extLst>
          </p:cNvPr>
          <p:cNvSpPr>
            <a:spLocks noGrp="1"/>
          </p:cNvSpPr>
          <p:nvPr>
            <p:ph idx="1"/>
          </p:nvPr>
        </p:nvSpPr>
        <p:spPr>
          <a:xfrm>
            <a:off x="685800" y="1248698"/>
            <a:ext cx="10820400" cy="5424050"/>
          </a:xfrm>
        </p:spPr>
        <p:txBody>
          <a:bodyPr>
            <a:noAutofit/>
          </a:bodyPr>
          <a:lstStyle/>
          <a:p>
            <a:pPr>
              <a:lnSpc>
                <a:spcPct val="100000"/>
              </a:lnSpc>
            </a:pPr>
            <a:r>
              <a:rPr lang="en-US" sz="1800" b="1" dirty="0">
                <a:latin typeface="Bahnschrift" panose="020B0502040204020203" pitchFamily="34" charset="0"/>
              </a:rPr>
              <a:t>What is a Prompt?</a:t>
            </a:r>
          </a:p>
          <a:p>
            <a:pPr>
              <a:lnSpc>
                <a:spcPct val="100000"/>
              </a:lnSpc>
            </a:pPr>
            <a:r>
              <a:rPr lang="en-US" sz="1800" dirty="0">
                <a:latin typeface="Bahnschrift" panose="020B0502040204020203" pitchFamily="34" charset="0"/>
              </a:rPr>
              <a:t>A prompt is the input or instruction you give to an AI model (like ChatGPT) to tell it what you want.</a:t>
            </a:r>
          </a:p>
          <a:p>
            <a:pPr>
              <a:lnSpc>
                <a:spcPct val="100000"/>
              </a:lnSpc>
            </a:pPr>
            <a:r>
              <a:rPr lang="en-US" sz="1800" dirty="0">
                <a:latin typeface="Bahnschrift" panose="020B0502040204020203" pitchFamily="34" charset="0"/>
              </a:rPr>
              <a:t>It can be a question, command, or even a set of guidelines.</a:t>
            </a:r>
          </a:p>
          <a:p>
            <a:pPr>
              <a:lnSpc>
                <a:spcPct val="100000"/>
              </a:lnSpc>
            </a:pPr>
            <a:r>
              <a:rPr lang="en-US" sz="1800" dirty="0">
                <a:latin typeface="Bahnschrift" panose="020B0502040204020203" pitchFamily="34" charset="0"/>
              </a:rPr>
              <a:t>Example: “Write 5 positive and 5 negative test cases for login functionality.”</a:t>
            </a:r>
          </a:p>
          <a:p>
            <a:pPr>
              <a:lnSpc>
                <a:spcPct val="100000"/>
              </a:lnSpc>
            </a:pPr>
            <a:r>
              <a:rPr lang="en-US" sz="1800" dirty="0">
                <a:latin typeface="Bahnschrift" panose="020B0502040204020203" pitchFamily="34" charset="0"/>
              </a:rPr>
              <a:t>“</a:t>
            </a:r>
            <a:r>
              <a:rPr lang="en-US" sz="1800" b="1" dirty="0">
                <a:latin typeface="Bahnschrift" panose="020B0502040204020203" pitchFamily="34" charset="0"/>
              </a:rPr>
              <a:t>What is Prompt Engineering?</a:t>
            </a:r>
          </a:p>
          <a:p>
            <a:pPr>
              <a:lnSpc>
                <a:spcPct val="100000"/>
              </a:lnSpc>
            </a:pPr>
            <a:r>
              <a:rPr lang="en-US" sz="1800" dirty="0">
                <a:latin typeface="Bahnschrift" panose="020B0502040204020203" pitchFamily="34" charset="0"/>
              </a:rPr>
              <a:t>Prompt engineering is the skill or process of designing and refining prompts to get the best results from an AI model.</a:t>
            </a:r>
          </a:p>
          <a:p>
            <a:pPr>
              <a:lnSpc>
                <a:spcPct val="100000"/>
              </a:lnSpc>
            </a:pPr>
            <a:r>
              <a:rPr lang="en-US" sz="1800" dirty="0">
                <a:latin typeface="Bahnschrift" panose="020B0502040204020203" pitchFamily="34" charset="0"/>
              </a:rPr>
              <a:t>It involves experimenting with the wording, structure, and details of your prompts to make the AI give more accurate, helpful, or creative answers.</a:t>
            </a:r>
          </a:p>
          <a:p>
            <a:pPr>
              <a:lnSpc>
                <a:spcPct val="100000"/>
              </a:lnSpc>
            </a:pPr>
            <a:r>
              <a:rPr lang="en-US" sz="1800" dirty="0">
                <a:latin typeface="Bahnschrift" panose="020B0502040204020203" pitchFamily="34" charset="0"/>
              </a:rPr>
              <a:t>Instead of asking vaguely → “Write test cases”,</a:t>
            </a:r>
            <a:br>
              <a:rPr lang="en-US" sz="1800" dirty="0">
                <a:latin typeface="Bahnschrift" panose="020B0502040204020203" pitchFamily="34" charset="0"/>
              </a:rPr>
            </a:br>
            <a:r>
              <a:rPr lang="en-US" sz="1800" dirty="0">
                <a:latin typeface="Bahnschrift" panose="020B0502040204020203" pitchFamily="34" charset="0"/>
              </a:rPr>
              <a:t>You refine:</a:t>
            </a:r>
            <a:br>
              <a:rPr lang="en-US" sz="1800" dirty="0">
                <a:latin typeface="Bahnschrift" panose="020B0502040204020203" pitchFamily="34" charset="0"/>
              </a:rPr>
            </a:br>
            <a:r>
              <a:rPr lang="en-US" sz="1800" dirty="0">
                <a:latin typeface="Bahnschrift" panose="020B0502040204020203" pitchFamily="34" charset="0"/>
              </a:rPr>
              <a:t> “Generate 10 functional test cases for login with email and password, covering positive, negative, and boundary conditions. Output in table format.”</a:t>
            </a:r>
          </a:p>
          <a:p>
            <a:pPr>
              <a:lnSpc>
                <a:spcPct val="100000"/>
              </a:lnSpc>
            </a:pPr>
            <a:r>
              <a:rPr lang="en-US" sz="1800" b="1" dirty="0">
                <a:latin typeface="Bahnschrift" panose="020B0502040204020203" pitchFamily="34" charset="0"/>
              </a:rPr>
              <a:t>Why is it important?</a:t>
            </a:r>
          </a:p>
          <a:p>
            <a:pPr>
              <a:lnSpc>
                <a:spcPct val="100000"/>
              </a:lnSpc>
            </a:pPr>
            <a:r>
              <a:rPr lang="en-US" sz="1800" dirty="0">
                <a:latin typeface="Bahnschrift" panose="020B0502040204020203" pitchFamily="34" charset="0"/>
              </a:rPr>
              <a:t>Because the quality of the output depends a lot on how you phrase your prompt!</a:t>
            </a:r>
          </a:p>
          <a:p>
            <a:endParaRPr lang="en-IN" sz="1800" dirty="0"/>
          </a:p>
        </p:txBody>
      </p:sp>
    </p:spTree>
    <p:extLst>
      <p:ext uri="{BB962C8B-B14F-4D97-AF65-F5344CB8AC3E}">
        <p14:creationId xmlns:p14="http://schemas.microsoft.com/office/powerpoint/2010/main" val="284650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E78D-8496-6BB0-26A7-754F5F64E23B}"/>
              </a:ext>
            </a:extLst>
          </p:cNvPr>
          <p:cNvSpPr>
            <a:spLocks noGrp="1"/>
          </p:cNvSpPr>
          <p:nvPr>
            <p:ph type="title"/>
          </p:nvPr>
        </p:nvSpPr>
        <p:spPr>
          <a:xfrm>
            <a:off x="3500283" y="363138"/>
            <a:ext cx="8288429" cy="1293028"/>
          </a:xfrm>
        </p:spPr>
        <p:txBody>
          <a:bodyPr/>
          <a:lstStyle/>
          <a:p>
            <a:r>
              <a:rPr lang="en-IN" dirty="0">
                <a:latin typeface="Arial Black" panose="020B0A04020102020204" pitchFamily="34" charset="0"/>
              </a:rPr>
              <a:t>Building components for good prompt</a:t>
            </a:r>
          </a:p>
        </p:txBody>
      </p:sp>
      <p:sp>
        <p:nvSpPr>
          <p:cNvPr id="3" name="Content Placeholder 2">
            <a:extLst>
              <a:ext uri="{FF2B5EF4-FFF2-40B4-BE49-F238E27FC236}">
                <a16:creationId xmlns:a16="http://schemas.microsoft.com/office/drawing/2014/main" id="{8C00B9EE-4C39-E719-3470-525C316F880B}"/>
              </a:ext>
            </a:extLst>
          </p:cNvPr>
          <p:cNvSpPr>
            <a:spLocks noGrp="1"/>
          </p:cNvSpPr>
          <p:nvPr>
            <p:ph idx="1"/>
          </p:nvPr>
        </p:nvSpPr>
        <p:spPr>
          <a:xfrm>
            <a:off x="685800" y="1562346"/>
            <a:ext cx="10820400" cy="4775200"/>
          </a:xfrm>
        </p:spPr>
        <p:txBody>
          <a:bodyPr>
            <a:noAutofit/>
          </a:bodyPr>
          <a:lstStyle/>
          <a:p>
            <a:pPr>
              <a:lnSpc>
                <a:spcPct val="100000"/>
              </a:lnSpc>
            </a:pPr>
            <a:r>
              <a:rPr lang="en-US" sz="2000" b="1" dirty="0">
                <a:latin typeface="Bahnschrift" panose="020B0502040204020203" pitchFamily="34" charset="0"/>
              </a:rPr>
              <a:t>Instruction: </a:t>
            </a:r>
            <a:r>
              <a:rPr lang="en-US" sz="2000" dirty="0">
                <a:latin typeface="Bahnschrift" panose="020B0502040204020203" pitchFamily="34" charset="0"/>
              </a:rPr>
              <a:t>What you want the AI to do.</a:t>
            </a:r>
          </a:p>
          <a:p>
            <a:pPr>
              <a:lnSpc>
                <a:spcPct val="100000"/>
              </a:lnSpc>
            </a:pPr>
            <a:r>
              <a:rPr lang="en-US" sz="2000" dirty="0">
                <a:latin typeface="Bahnschrift" panose="020B0502040204020203" pitchFamily="34" charset="0"/>
              </a:rPr>
              <a:t>Example: “Summarize this text.”</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Context/Background: </a:t>
            </a:r>
            <a:r>
              <a:rPr lang="en-US" sz="2000" dirty="0">
                <a:latin typeface="Bahnschrift" panose="020B0502040204020203" pitchFamily="34" charset="0"/>
              </a:rPr>
              <a:t>Information the AI needs to understand your request better.</a:t>
            </a:r>
          </a:p>
          <a:p>
            <a:pPr>
              <a:lnSpc>
                <a:spcPct val="100000"/>
              </a:lnSpc>
            </a:pPr>
            <a:r>
              <a:rPr lang="en-US" sz="2000" dirty="0">
                <a:latin typeface="Bahnschrift" panose="020B0502040204020203" pitchFamily="34" charset="0"/>
              </a:rPr>
              <a:t>Example: “This article is about climate change.”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Input Data: </a:t>
            </a:r>
            <a:r>
              <a:rPr lang="en-US" sz="2000" dirty="0">
                <a:latin typeface="Bahnschrift" panose="020B0502040204020203" pitchFamily="34" charset="0"/>
              </a:rPr>
              <a:t>The actual data or content you want the AI to work with.</a:t>
            </a:r>
          </a:p>
          <a:p>
            <a:pPr>
              <a:lnSpc>
                <a:spcPct val="100000"/>
              </a:lnSpc>
            </a:pPr>
            <a:r>
              <a:rPr lang="en-US" sz="2000" dirty="0">
                <a:latin typeface="Bahnschrift" panose="020B0502040204020203" pitchFamily="34" charset="0"/>
              </a:rPr>
              <a:t>Example: The text, document, or question you provide.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Format/Style Requirements: </a:t>
            </a:r>
            <a:r>
              <a:rPr lang="en-US" sz="2000" dirty="0">
                <a:latin typeface="Bahnschrift" panose="020B0502040204020203" pitchFamily="34" charset="0"/>
              </a:rPr>
              <a:t>How you want the answer to be structured or styled.</a:t>
            </a:r>
          </a:p>
          <a:p>
            <a:pPr>
              <a:lnSpc>
                <a:spcPct val="100000"/>
              </a:lnSpc>
            </a:pPr>
            <a:r>
              <a:rPr lang="en-US" sz="2000" dirty="0">
                <a:latin typeface="Bahnschrift" panose="020B0502040204020203" pitchFamily="34" charset="0"/>
              </a:rPr>
              <a:t>Example: “Reply in bullet points.” or “Write in simple language.”</a:t>
            </a:r>
          </a:p>
          <a:p>
            <a:pPr>
              <a:lnSpc>
                <a:spcPct val="100000"/>
              </a:lnSpc>
            </a:pPr>
            <a:endParaRPr lang="en-US" sz="2000" dirty="0">
              <a:latin typeface="Bahnschrift" panose="020B0502040204020203" pitchFamily="34" charset="0"/>
            </a:endParaRPr>
          </a:p>
          <a:p>
            <a:pPr>
              <a:lnSpc>
                <a:spcPct val="100000"/>
              </a:lnSpc>
            </a:pPr>
            <a:r>
              <a:rPr lang="en-US" sz="2000" dirty="0">
                <a:latin typeface="Bahnschrift" panose="020B0502040204020203" pitchFamily="34" charset="0"/>
              </a:rPr>
              <a:t>Constraints or Examples: Any limits, rules, or examples you want the AI to follow.</a:t>
            </a:r>
          </a:p>
          <a:p>
            <a:pPr>
              <a:lnSpc>
                <a:spcPct val="100000"/>
              </a:lnSpc>
            </a:pPr>
            <a:r>
              <a:rPr lang="en-US" sz="2000" dirty="0">
                <a:latin typeface="Bahnschrift" panose="020B0502040204020203" pitchFamily="34" charset="0"/>
              </a:rPr>
              <a:t>Example: “Use less than 100 words.” or “Here’s an example answer…”</a:t>
            </a:r>
            <a:endParaRPr lang="en-IN" sz="2000" dirty="0">
              <a:latin typeface="Bahnschrift" panose="020B0502040204020203" pitchFamily="34" charset="0"/>
            </a:endParaRPr>
          </a:p>
        </p:txBody>
      </p:sp>
    </p:spTree>
    <p:extLst>
      <p:ext uri="{BB962C8B-B14F-4D97-AF65-F5344CB8AC3E}">
        <p14:creationId xmlns:p14="http://schemas.microsoft.com/office/powerpoint/2010/main" val="1094131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D93-4975-07B7-CB80-098496315C66}"/>
              </a:ext>
            </a:extLst>
          </p:cNvPr>
          <p:cNvSpPr>
            <a:spLocks noGrp="1"/>
          </p:cNvSpPr>
          <p:nvPr>
            <p:ph type="title"/>
          </p:nvPr>
        </p:nvSpPr>
        <p:spPr>
          <a:xfrm>
            <a:off x="2895600" y="390747"/>
            <a:ext cx="8610600" cy="1293028"/>
          </a:xfrm>
        </p:spPr>
        <p:txBody>
          <a:bodyPr/>
          <a:lstStyle/>
          <a:p>
            <a:r>
              <a:rPr lang="en-IN" dirty="0">
                <a:latin typeface="Arial Black" panose="020B0A04020102020204" pitchFamily="34" charset="0"/>
              </a:rPr>
              <a:t>Manual Testing with generative ai</a:t>
            </a:r>
          </a:p>
        </p:txBody>
      </p:sp>
      <p:sp>
        <p:nvSpPr>
          <p:cNvPr id="3" name="Content Placeholder 2">
            <a:extLst>
              <a:ext uri="{FF2B5EF4-FFF2-40B4-BE49-F238E27FC236}">
                <a16:creationId xmlns:a16="http://schemas.microsoft.com/office/drawing/2014/main" id="{5C575680-7844-05A4-6A50-255B5F70FB97}"/>
              </a:ext>
            </a:extLst>
          </p:cNvPr>
          <p:cNvSpPr>
            <a:spLocks noGrp="1"/>
          </p:cNvSpPr>
          <p:nvPr>
            <p:ph idx="1"/>
          </p:nvPr>
        </p:nvSpPr>
        <p:spPr>
          <a:xfrm>
            <a:off x="685800" y="1683775"/>
            <a:ext cx="10820400" cy="5061153"/>
          </a:xfrm>
        </p:spPr>
        <p:txBody>
          <a:bodyPr>
            <a:normAutofit fontScale="77500" lnSpcReduction="20000"/>
          </a:bodyPr>
          <a:lstStyle/>
          <a:p>
            <a:pPr>
              <a:lnSpc>
                <a:spcPct val="100000"/>
              </a:lnSpc>
            </a:pPr>
            <a:r>
              <a:rPr lang="en-US" sz="2600" dirty="0">
                <a:latin typeface="Bahnschrift" panose="020B0502040204020203" pitchFamily="34" charset="0"/>
              </a:rPr>
              <a:t>Generative AI can be a powerful assistant for manual testers. Instead of replacing manual testing, it helps testers work smarter and faster:</a:t>
            </a:r>
          </a:p>
          <a:p>
            <a:pPr>
              <a:lnSpc>
                <a:spcPct val="100000"/>
              </a:lnSpc>
            </a:pPr>
            <a:r>
              <a:rPr lang="en-US" sz="2600" b="1" dirty="0">
                <a:latin typeface="Bahnschrift" panose="020B0502040204020203" pitchFamily="34" charset="0"/>
              </a:rPr>
              <a:t>How Generative AI Supports Manual Testing:</a:t>
            </a:r>
          </a:p>
          <a:p>
            <a:pPr>
              <a:lnSpc>
                <a:spcPct val="100000"/>
              </a:lnSpc>
            </a:pPr>
            <a:r>
              <a:rPr lang="en-US" sz="2600" b="1" dirty="0">
                <a:latin typeface="Bahnschrift" panose="020B0502040204020203" pitchFamily="34" charset="0"/>
              </a:rPr>
              <a:t>Test Case Suggestions:</a:t>
            </a:r>
            <a:br>
              <a:rPr lang="en-US" sz="2600" dirty="0">
                <a:latin typeface="Bahnschrift" panose="020B0502040204020203" pitchFamily="34" charset="0"/>
              </a:rPr>
            </a:br>
            <a:r>
              <a:rPr lang="en-US" sz="2600" dirty="0">
                <a:latin typeface="Bahnschrift" panose="020B0502040204020203" pitchFamily="34" charset="0"/>
              </a:rPr>
              <a:t>AI can automatically generate new test cases or suggest improvements based on requirements, user stories, or past bugs.</a:t>
            </a:r>
          </a:p>
          <a:p>
            <a:pPr>
              <a:lnSpc>
                <a:spcPct val="100000"/>
              </a:lnSpc>
            </a:pPr>
            <a:r>
              <a:rPr lang="en-US" sz="2600" b="1" dirty="0">
                <a:latin typeface="Bahnschrift" panose="020B0502040204020203" pitchFamily="34" charset="0"/>
              </a:rPr>
              <a:t>Test Data Creation:</a:t>
            </a:r>
            <a:br>
              <a:rPr lang="en-US" sz="2600" dirty="0">
                <a:latin typeface="Bahnschrift" panose="020B0502040204020203" pitchFamily="34" charset="0"/>
              </a:rPr>
            </a:br>
            <a:r>
              <a:rPr lang="en-US" sz="2600" dirty="0">
                <a:latin typeface="Bahnschrift" panose="020B0502040204020203" pitchFamily="34" charset="0"/>
              </a:rPr>
              <a:t>AI can quickly create realistic and varied test data (names, addresses, scenarios) so testers don’t have to do it manually.</a:t>
            </a:r>
          </a:p>
          <a:p>
            <a:pPr>
              <a:lnSpc>
                <a:spcPct val="100000"/>
              </a:lnSpc>
            </a:pPr>
            <a:r>
              <a:rPr lang="en-US" sz="2600" b="1" dirty="0">
                <a:latin typeface="Bahnschrift" panose="020B0502040204020203" pitchFamily="34" charset="0"/>
              </a:rPr>
              <a:t>Bug Reporting Assistance:</a:t>
            </a:r>
            <a:br>
              <a:rPr lang="en-US" sz="2600" dirty="0">
                <a:latin typeface="Bahnschrift" panose="020B0502040204020203" pitchFamily="34" charset="0"/>
              </a:rPr>
            </a:br>
            <a:r>
              <a:rPr lang="en-US" sz="2600" dirty="0">
                <a:latin typeface="Bahnschrift" panose="020B0502040204020203" pitchFamily="34" charset="0"/>
              </a:rPr>
              <a:t>AI can help draft clear and detailed bug reports, suggest steps to reproduce bugs, or summarize issues for developers.</a:t>
            </a:r>
          </a:p>
          <a:p>
            <a:pPr>
              <a:lnSpc>
                <a:spcPct val="100000"/>
              </a:lnSpc>
            </a:pPr>
            <a:r>
              <a:rPr lang="en-US" sz="2600" b="1" dirty="0">
                <a:latin typeface="Bahnschrift" panose="020B0502040204020203" pitchFamily="34" charset="0"/>
              </a:rPr>
              <a:t>Exploratory Testing Ideas:</a:t>
            </a:r>
            <a:br>
              <a:rPr lang="en-US" sz="2600" dirty="0">
                <a:latin typeface="Bahnschrift" panose="020B0502040204020203" pitchFamily="34" charset="0"/>
              </a:rPr>
            </a:br>
            <a:r>
              <a:rPr lang="en-US" sz="2600" dirty="0">
                <a:latin typeface="Bahnschrift" panose="020B0502040204020203" pitchFamily="34" charset="0"/>
              </a:rPr>
              <a:t>AI can provide ideas or checklists for exploratory testing, helping testers think of edge cases or unusual user paths.</a:t>
            </a:r>
          </a:p>
          <a:p>
            <a:pPr>
              <a:lnSpc>
                <a:spcPct val="100000"/>
              </a:lnSpc>
            </a:pPr>
            <a:r>
              <a:rPr lang="en-US" sz="2600" b="1" dirty="0">
                <a:latin typeface="Bahnschrift" panose="020B0502040204020203" pitchFamily="34" charset="0"/>
              </a:rPr>
              <a:t>Documentation Help:</a:t>
            </a:r>
            <a:br>
              <a:rPr lang="en-US" sz="2600" dirty="0">
                <a:latin typeface="Bahnschrift" panose="020B0502040204020203" pitchFamily="34" charset="0"/>
              </a:rPr>
            </a:br>
            <a:r>
              <a:rPr lang="en-US" sz="2600" dirty="0">
                <a:latin typeface="Bahnschrift" panose="020B0502040204020203" pitchFamily="34" charset="0"/>
              </a:rPr>
              <a:t>AI can help write or organize test documentation, summaries, and checklists.</a:t>
            </a:r>
          </a:p>
          <a:p>
            <a:endParaRPr lang="en-IN" dirty="0"/>
          </a:p>
        </p:txBody>
      </p:sp>
    </p:spTree>
    <p:extLst>
      <p:ext uri="{BB962C8B-B14F-4D97-AF65-F5344CB8AC3E}">
        <p14:creationId xmlns:p14="http://schemas.microsoft.com/office/powerpoint/2010/main" val="265568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5D48-93EB-FF47-52B2-A8BAB3AACAB7}"/>
              </a:ext>
            </a:extLst>
          </p:cNvPr>
          <p:cNvSpPr>
            <a:spLocks noGrp="1"/>
          </p:cNvSpPr>
          <p:nvPr>
            <p:ph type="title"/>
          </p:nvPr>
        </p:nvSpPr>
        <p:spPr>
          <a:xfrm>
            <a:off x="766917" y="764373"/>
            <a:ext cx="10739284" cy="1293028"/>
          </a:xfrm>
        </p:spPr>
        <p:txBody>
          <a:bodyPr>
            <a:normAutofit/>
          </a:bodyPr>
          <a:lstStyle/>
          <a:p>
            <a:r>
              <a:rPr lang="en-US" dirty="0">
                <a:latin typeface="Arial Black" panose="020B0A04020102020204" pitchFamily="34" charset="0"/>
              </a:rPr>
              <a:t>1. Creating a Test Plan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D701627-E7EF-EA4B-B7F7-445404F81845}"/>
              </a:ext>
            </a:extLst>
          </p:cNvPr>
          <p:cNvSpPr>
            <a:spLocks noGrp="1"/>
          </p:cNvSpPr>
          <p:nvPr>
            <p:ph idx="1"/>
          </p:nvPr>
        </p:nvSpPr>
        <p:spPr>
          <a:xfrm>
            <a:off x="685800" y="2057402"/>
            <a:ext cx="10820400" cy="4161284"/>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a detailed test plan for a [web/mobile] application for [domain: e-commerce, banking, healthcare, etc.]. Include test objectives, scope, test strategy, test environment, risks, and assumptions.”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 </a:t>
            </a:r>
          </a:p>
          <a:p>
            <a:pPr>
              <a:lnSpc>
                <a:spcPct val="100000"/>
              </a:lnSpc>
            </a:pPr>
            <a:r>
              <a:rPr lang="en-US" sz="2000" dirty="0">
                <a:latin typeface="Bahnschrift" panose="020B0502040204020203" pitchFamily="34" charset="0"/>
              </a:rPr>
              <a:t>"Create a test plan for an online e-commerce website that includes test scope, test objectives, entry/exit criteria, testing tools, test schedule, and risk mitigation."</a:t>
            </a:r>
            <a:endParaRPr lang="en-IN" sz="2000" dirty="0">
              <a:latin typeface="Bahnschrift" panose="020B0502040204020203" pitchFamily="34" charset="0"/>
            </a:endParaRPr>
          </a:p>
        </p:txBody>
      </p:sp>
    </p:spTree>
    <p:extLst>
      <p:ext uri="{BB962C8B-B14F-4D97-AF65-F5344CB8AC3E}">
        <p14:creationId xmlns:p14="http://schemas.microsoft.com/office/powerpoint/2010/main" val="120026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FAC-E5F7-3282-0341-46E253F28CAA}"/>
              </a:ext>
            </a:extLst>
          </p:cNvPr>
          <p:cNvSpPr>
            <a:spLocks noGrp="1"/>
          </p:cNvSpPr>
          <p:nvPr>
            <p:ph type="title"/>
          </p:nvPr>
        </p:nvSpPr>
        <p:spPr/>
        <p:txBody>
          <a:bodyPr/>
          <a:lstStyle/>
          <a:p>
            <a:r>
              <a:rPr lang="en-US" dirty="0">
                <a:latin typeface="Arial Black" panose="020B0A04020102020204" pitchFamily="34" charset="0"/>
              </a:rPr>
              <a:t>2. Writing Test Scenarios &amp; Test Cases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309F73E-0815-8A50-0C38-4088CB4ED096}"/>
              </a:ext>
            </a:extLst>
          </p:cNvPr>
          <p:cNvSpPr>
            <a:spLocks noGrp="1"/>
          </p:cNvSpPr>
          <p:nvPr>
            <p:ph idx="1"/>
          </p:nvPr>
        </p:nvSpPr>
        <p:spPr>
          <a:xfrm>
            <a:off x="685800" y="1858298"/>
            <a:ext cx="10820400" cy="4360388"/>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functional test scenarios and test cases for a [feature/module] of a [web/mobile] application. Use techniques like Equivalence Class Partitioning (ECP) and Boundary Value Analysis (BVA) where applicable.“</a:t>
            </a: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"Write test cases for the login functionality of a banking application using BVA and ECP. Include positive and negative test cases.“</a:t>
            </a:r>
          </a:p>
          <a:p>
            <a:pPr>
              <a:lnSpc>
                <a:spcPct val="100000"/>
              </a:lnSpc>
            </a:pPr>
            <a:r>
              <a:rPr lang="en-US" sz="2000" dirty="0">
                <a:latin typeface="Bahnschrift" panose="020B0502040204020203" pitchFamily="34" charset="0"/>
              </a:rPr>
              <a:t> </a:t>
            </a:r>
            <a:r>
              <a:rPr lang="en-US" sz="2000" b="1" dirty="0">
                <a:latin typeface="Bahnschrift" panose="020B0502040204020203" pitchFamily="34" charset="0"/>
              </a:rPr>
              <a:t>Additional Prompt for Edge Cases: </a:t>
            </a:r>
            <a:r>
              <a:rPr lang="en-US" sz="2000" dirty="0">
                <a:latin typeface="Bahnschrift" panose="020B0502040204020203" pitchFamily="34" charset="0"/>
              </a:rPr>
              <a:t>"Provide edge case test scenarios for a [feature/module] of a [web/mobile] application.“</a:t>
            </a:r>
          </a:p>
          <a:p>
            <a:pPr>
              <a:lnSpc>
                <a:spcPct val="100000"/>
              </a:lnSpc>
            </a:pPr>
            <a:r>
              <a:rPr lang="en-US" sz="2000" dirty="0">
                <a:latin typeface="Bahnschrift" panose="020B0502040204020203" pitchFamily="34" charset="0"/>
              </a:rPr>
              <a:t> Example: "Give edge case test scenarios for an online payment gateway."</a:t>
            </a:r>
            <a:endParaRPr lang="en-IN" sz="2000" dirty="0">
              <a:latin typeface="Bahnschrift" panose="020B0502040204020203" pitchFamily="34" charset="0"/>
            </a:endParaRPr>
          </a:p>
        </p:txBody>
      </p:sp>
    </p:spTree>
    <p:extLst>
      <p:ext uri="{BB962C8B-B14F-4D97-AF65-F5344CB8AC3E}">
        <p14:creationId xmlns:p14="http://schemas.microsoft.com/office/powerpoint/2010/main" val="326385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7E8D-B530-39A8-9663-6E660B9DFBF1}"/>
              </a:ext>
            </a:extLst>
          </p:cNvPr>
          <p:cNvSpPr>
            <a:spLocks noGrp="1"/>
          </p:cNvSpPr>
          <p:nvPr>
            <p:ph type="title"/>
          </p:nvPr>
        </p:nvSpPr>
        <p:spPr/>
        <p:txBody>
          <a:bodyPr/>
          <a:lstStyle/>
          <a:p>
            <a:r>
              <a:rPr lang="en-US" dirty="0">
                <a:latin typeface="Arial Black" panose="020B0A04020102020204" pitchFamily="34" charset="0"/>
              </a:rPr>
              <a:t>3. Creating Test Data</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08FA62E-8050-2C01-D14C-D0C24F3CE80F}"/>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 "Generate valid and invalid test data for testing a [feature/module]. Consider scenarios for edge cases, negative testing, and boundary conditions.”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 "Generate test data for an e-commerce checkout process, including valid and invalid credit card numbers, discount codes, and shipping addresses."</a:t>
            </a:r>
            <a:endParaRPr lang="en-IN" sz="2000" dirty="0">
              <a:latin typeface="Bahnschrift" panose="020B0502040204020203" pitchFamily="34" charset="0"/>
            </a:endParaRPr>
          </a:p>
        </p:txBody>
      </p:sp>
    </p:spTree>
    <p:extLst>
      <p:ext uri="{BB962C8B-B14F-4D97-AF65-F5344CB8AC3E}">
        <p14:creationId xmlns:p14="http://schemas.microsoft.com/office/powerpoint/2010/main" val="1141615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41343-45FF-56E9-B076-2D72B04BF835}"/>
              </a:ext>
            </a:extLst>
          </p:cNvPr>
          <p:cNvSpPr>
            <a:spLocks noGrp="1"/>
          </p:cNvSpPr>
          <p:nvPr>
            <p:ph type="title"/>
          </p:nvPr>
        </p:nvSpPr>
        <p:spPr/>
        <p:txBody>
          <a:bodyPr/>
          <a:lstStyle/>
          <a:p>
            <a:r>
              <a:rPr lang="en-US" dirty="0">
                <a:latin typeface="Arial Black" panose="020B0A04020102020204" pitchFamily="34" charset="0"/>
              </a:rPr>
              <a:t>4. Writing a Bug Report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EA37B05-F1B6-C721-E3F3-8C49AFC01E35}"/>
              </a:ext>
            </a:extLst>
          </p:cNvPr>
          <p:cNvSpPr>
            <a:spLocks noGrp="1"/>
          </p:cNvSpPr>
          <p:nvPr>
            <p:ph idx="1"/>
          </p:nvPr>
        </p:nvSpPr>
        <p:spPr>
          <a:xfrm>
            <a:off x="813620" y="1693115"/>
            <a:ext cx="10820400" cy="4024125"/>
          </a:xfrm>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"Write a bug report for a defect found in [feature/module] of a [web/mobile] application. Include steps to reproduce, expected vs. actual results, severity, priority, and screenshots (if applicable).”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"Generate a bug report for an issue where users cannot reset their password on an e-commerce website. The reset email is not sent after clicking 'Forgot Password'."</a:t>
            </a:r>
            <a:endParaRPr lang="en-IN" sz="2000" dirty="0">
              <a:latin typeface="Bahnschrift" panose="020B0502040204020203" pitchFamily="34" charset="0"/>
            </a:endParaRPr>
          </a:p>
        </p:txBody>
      </p:sp>
    </p:spTree>
    <p:extLst>
      <p:ext uri="{BB962C8B-B14F-4D97-AF65-F5344CB8AC3E}">
        <p14:creationId xmlns:p14="http://schemas.microsoft.com/office/powerpoint/2010/main" val="515190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8B98-2109-4A85-CAF0-E58C55AC0A56}"/>
              </a:ext>
            </a:extLst>
          </p:cNvPr>
          <p:cNvSpPr>
            <a:spLocks noGrp="1"/>
          </p:cNvSpPr>
          <p:nvPr>
            <p:ph type="title"/>
          </p:nvPr>
        </p:nvSpPr>
        <p:spPr>
          <a:xfrm>
            <a:off x="1425678" y="1022773"/>
            <a:ext cx="10228006" cy="1081330"/>
          </a:xfrm>
        </p:spPr>
        <p:txBody>
          <a:bodyPr>
            <a:normAutofit fontScale="90000"/>
          </a:bodyPr>
          <a:lstStyle/>
          <a:p>
            <a:r>
              <a:rPr lang="en-US" dirty="0">
                <a:latin typeface="Arial Black" panose="020B0A04020102020204" pitchFamily="34" charset="0"/>
              </a:rPr>
              <a:t>5. Generating Test Summary Report</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3D0E12A-D425-FE9D-8527-A548622D03C9}"/>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"Create a test summary report for a completed testing phase of a [web/mobile] application. Include executed test cases, pass/fail rates, defects found, and recommendations.“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"Generate a test summary report for the regression testing phase of an online banking app, including defect statistics and unresolved issues."</a:t>
            </a:r>
            <a:endParaRPr lang="en-IN" sz="2000" dirty="0">
              <a:latin typeface="Bahnschrift" panose="020B0502040204020203" pitchFamily="34" charset="0"/>
            </a:endParaRPr>
          </a:p>
        </p:txBody>
      </p:sp>
    </p:spTree>
    <p:extLst>
      <p:ext uri="{BB962C8B-B14F-4D97-AF65-F5344CB8AC3E}">
        <p14:creationId xmlns:p14="http://schemas.microsoft.com/office/powerpoint/2010/main" val="1983947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9FEC-360E-335C-4027-F032BF9CEBE5}"/>
              </a:ext>
            </a:extLst>
          </p:cNvPr>
          <p:cNvSpPr>
            <a:spLocks noGrp="1"/>
          </p:cNvSpPr>
          <p:nvPr>
            <p:ph type="ctrTitle"/>
          </p:nvPr>
        </p:nvSpPr>
        <p:spPr/>
        <p:txBody>
          <a:bodyPr/>
          <a:lstStyle/>
          <a:p>
            <a:r>
              <a:rPr lang="en-IN" dirty="0">
                <a:latin typeface="Arial Black" panose="020B0A04020102020204" pitchFamily="34" charset="0"/>
              </a:rPr>
              <a:t>Generative ai in API Testing</a:t>
            </a:r>
          </a:p>
        </p:txBody>
      </p:sp>
      <p:sp>
        <p:nvSpPr>
          <p:cNvPr id="3" name="Subtitle 2">
            <a:extLst>
              <a:ext uri="{FF2B5EF4-FFF2-40B4-BE49-F238E27FC236}">
                <a16:creationId xmlns:a16="http://schemas.microsoft.com/office/drawing/2014/main" id="{D34060F7-86F7-69B2-EF71-7EC8DC936E1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53492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E72C-3B1A-F927-BB8B-0E508E9E953E}"/>
              </a:ext>
            </a:extLst>
          </p:cNvPr>
          <p:cNvSpPr>
            <a:spLocks noGrp="1"/>
          </p:cNvSpPr>
          <p:nvPr>
            <p:ph type="title"/>
          </p:nvPr>
        </p:nvSpPr>
        <p:spPr>
          <a:xfrm>
            <a:off x="3003755" y="3619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0B0FE6C7-2245-E067-FF85-414FC3BFC3F8}"/>
              </a:ext>
            </a:extLst>
          </p:cNvPr>
          <p:cNvSpPr>
            <a:spLocks noGrp="1"/>
          </p:cNvSpPr>
          <p:nvPr>
            <p:ph idx="1"/>
          </p:nvPr>
        </p:nvSpPr>
        <p:spPr>
          <a:xfrm>
            <a:off x="685800" y="1406013"/>
            <a:ext cx="10820400" cy="4812673"/>
          </a:xfrm>
        </p:spPr>
        <p:txBody>
          <a:bodyPr>
            <a:noAutofit/>
          </a:bodyPr>
          <a:lstStyle/>
          <a:p>
            <a:pPr>
              <a:lnSpc>
                <a:spcPct val="110000"/>
              </a:lnSpc>
            </a:pPr>
            <a:r>
              <a:rPr lang="en-US" sz="2000" b="1" dirty="0">
                <a:latin typeface="Bahnschrift" panose="020B0502040204020203" pitchFamily="34" charset="0"/>
              </a:rPr>
              <a:t>1)Creating Payload Prompt: </a:t>
            </a:r>
          </a:p>
          <a:p>
            <a:pPr>
              <a:lnSpc>
                <a:spcPct val="110000"/>
              </a:lnSpc>
            </a:pPr>
            <a:r>
              <a:rPr lang="en-US" sz="2000" dirty="0">
                <a:latin typeface="Bahnschrift" panose="020B0502040204020203" pitchFamily="34" charset="0"/>
              </a:rPr>
              <a:t>Generate a JSON payload for creating a new user in an API. </a:t>
            </a:r>
          </a:p>
          <a:p>
            <a:pPr>
              <a:lnSpc>
                <a:spcPct val="110000"/>
              </a:lnSpc>
            </a:pPr>
            <a:r>
              <a:rPr lang="en-US" sz="2000" dirty="0">
                <a:latin typeface="Bahnschrift" panose="020B0502040204020203" pitchFamily="34" charset="0"/>
              </a:rPr>
              <a:t>The payload should contain f </a:t>
            </a:r>
            <a:r>
              <a:rPr lang="en-US" sz="2000" dirty="0" err="1">
                <a:latin typeface="Bahnschrift" panose="020B0502040204020203" pitchFamily="34" charset="0"/>
              </a:rPr>
              <a:t>ields</a:t>
            </a:r>
            <a:r>
              <a:rPr lang="en-US" sz="2000" dirty="0">
                <a:latin typeface="Bahnschrift" panose="020B0502040204020203" pitchFamily="34" charset="0"/>
              </a:rPr>
              <a:t> like id, name, email, age, and address with sample values.</a:t>
            </a:r>
          </a:p>
          <a:p>
            <a:pPr>
              <a:lnSpc>
                <a:spcPct val="110000"/>
              </a:lnSpc>
            </a:pPr>
            <a:r>
              <a:rPr lang="en-US" sz="2000" b="1" dirty="0">
                <a:latin typeface="Bahnschrift" panose="020B0502040204020203" pitchFamily="34" charset="0"/>
              </a:rPr>
              <a:t>2) Creating POJO (Plain Old Java Object) Class from JSON: </a:t>
            </a:r>
          </a:p>
          <a:p>
            <a:pPr>
              <a:lnSpc>
                <a:spcPct val="110000"/>
              </a:lnSpc>
            </a:pPr>
            <a:r>
              <a:rPr lang="en-US" sz="2000" b="1" dirty="0">
                <a:latin typeface="Bahnschrift" panose="020B0502040204020203" pitchFamily="34" charset="0"/>
              </a:rPr>
              <a:t>3)Add Assertions for the API Response Prompt: </a:t>
            </a:r>
          </a:p>
          <a:p>
            <a:pPr>
              <a:lnSpc>
                <a:spcPct val="110000"/>
              </a:lnSpc>
            </a:pPr>
            <a:r>
              <a:rPr lang="en-US" sz="2000" b="1" dirty="0">
                <a:latin typeface="Bahnschrift" panose="020B0502040204020203" pitchFamily="34" charset="0"/>
              </a:rPr>
              <a:t>4)Write assertions using </a:t>
            </a:r>
            <a:r>
              <a:rPr lang="en-US" sz="2000" b="1" dirty="0" err="1">
                <a:latin typeface="Bahnschrift" panose="020B0502040204020203" pitchFamily="34" charset="0"/>
              </a:rPr>
              <a:t>RestAssured</a:t>
            </a:r>
            <a:r>
              <a:rPr lang="en-US" sz="2000" b="1" dirty="0">
                <a:latin typeface="Bahnschrift" panose="020B0502040204020203" pitchFamily="34" charset="0"/>
              </a:rPr>
              <a:t> and TestNG for the following API response:</a:t>
            </a:r>
          </a:p>
          <a:p>
            <a:pPr>
              <a:lnSpc>
                <a:spcPct val="110000"/>
              </a:lnSpc>
            </a:pPr>
            <a:r>
              <a:rPr lang="en-US" sz="2000" dirty="0">
                <a:latin typeface="Bahnschrift" panose="020B0502040204020203" pitchFamily="34" charset="0"/>
              </a:rPr>
              <a:t> {  "status": "success", "message": "User created successfully", "</a:t>
            </a:r>
            <a:r>
              <a:rPr lang="en-US" sz="2000" dirty="0" err="1">
                <a:latin typeface="Bahnschrift" panose="020B0502040204020203" pitchFamily="34" charset="0"/>
              </a:rPr>
              <a:t>userId</a:t>
            </a:r>
            <a:r>
              <a:rPr lang="en-US" sz="2000" dirty="0">
                <a:latin typeface="Bahnschrift" panose="020B0502040204020203" pitchFamily="34" charset="0"/>
              </a:rPr>
              <a:t>": 101 }</a:t>
            </a:r>
          </a:p>
          <a:p>
            <a:pPr>
              <a:lnSpc>
                <a:spcPct val="110000"/>
              </a:lnSpc>
            </a:pPr>
            <a:r>
              <a:rPr lang="en-US" sz="2000" b="1" dirty="0">
                <a:latin typeface="Bahnschrift" panose="020B0502040204020203" pitchFamily="34" charset="0"/>
              </a:rPr>
              <a:t>Validate that: </a:t>
            </a:r>
          </a:p>
          <a:p>
            <a:pPr>
              <a:lnSpc>
                <a:spcPct val="110000"/>
              </a:lnSpc>
            </a:pPr>
            <a:r>
              <a:rPr lang="en-US" sz="2000" dirty="0">
                <a:latin typeface="Bahnschrift" panose="020B0502040204020203" pitchFamily="34" charset="0"/>
              </a:rPr>
              <a:t>● The status code is 201.</a:t>
            </a:r>
          </a:p>
          <a:p>
            <a:pPr>
              <a:lnSpc>
                <a:spcPct val="110000"/>
              </a:lnSpc>
            </a:pPr>
            <a:r>
              <a:rPr lang="en-US" sz="2000" dirty="0">
                <a:latin typeface="Bahnschrift" panose="020B0502040204020203" pitchFamily="34" charset="0"/>
              </a:rPr>
              <a:t> ● The status field is "success". </a:t>
            </a:r>
          </a:p>
          <a:p>
            <a:pPr>
              <a:lnSpc>
                <a:spcPct val="110000"/>
              </a:lnSpc>
            </a:pPr>
            <a:r>
              <a:rPr lang="en-US" sz="2000" dirty="0">
                <a:latin typeface="Bahnschrift" panose="020B0502040204020203" pitchFamily="34" charset="0"/>
              </a:rPr>
              <a:t>● The </a:t>
            </a:r>
            <a:r>
              <a:rPr lang="en-US" sz="2000" dirty="0" err="1">
                <a:latin typeface="Bahnschrift" panose="020B0502040204020203" pitchFamily="34" charset="0"/>
              </a:rPr>
              <a:t>userId</a:t>
            </a:r>
            <a:r>
              <a:rPr lang="en-US" sz="2000" dirty="0">
                <a:latin typeface="Bahnschrift" panose="020B0502040204020203" pitchFamily="34" charset="0"/>
              </a:rPr>
              <a:t> is an integer."</a:t>
            </a:r>
          </a:p>
          <a:p>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B361EE1-C669-C93F-0642-0A927160C730}"/>
                  </a:ext>
                </a:extLst>
              </p14:cNvPr>
              <p14:cNvContentPartPr/>
              <p14:nvPr/>
            </p14:nvContentPartPr>
            <p14:xfrm>
              <a:off x="612876" y="1222458"/>
              <a:ext cx="821880" cy="847440"/>
            </p14:xfrm>
          </p:contentPart>
        </mc:Choice>
        <mc:Fallback>
          <p:pic>
            <p:nvPicPr>
              <p:cNvPr id="4" name="Ink 3">
                <a:extLst>
                  <a:ext uri="{FF2B5EF4-FFF2-40B4-BE49-F238E27FC236}">
                    <a16:creationId xmlns:a16="http://schemas.microsoft.com/office/drawing/2014/main" id="{0B361EE1-C669-C93F-0642-0A927160C730}"/>
                  </a:ext>
                </a:extLst>
              </p:cNvPr>
              <p:cNvPicPr/>
              <p:nvPr/>
            </p:nvPicPr>
            <p:blipFill>
              <a:blip r:embed="rId4"/>
              <a:stretch>
                <a:fillRect/>
              </a:stretch>
            </p:blipFill>
            <p:spPr>
              <a:xfrm>
                <a:off x="606756" y="1216338"/>
                <a:ext cx="834120" cy="859680"/>
              </a:xfrm>
              <a:prstGeom prst="rect">
                <a:avLst/>
              </a:prstGeom>
            </p:spPr>
          </p:pic>
        </mc:Fallback>
      </mc:AlternateContent>
      <p:grpSp>
        <p:nvGrpSpPr>
          <p:cNvPr id="7" name="Group 6">
            <a:extLst>
              <a:ext uri="{FF2B5EF4-FFF2-40B4-BE49-F238E27FC236}">
                <a16:creationId xmlns:a16="http://schemas.microsoft.com/office/drawing/2014/main" id="{6F8E5DFB-B137-64DA-6161-5FFC3891BCC2}"/>
              </a:ext>
            </a:extLst>
          </p:cNvPr>
          <p:cNvGrpSpPr/>
          <p:nvPr/>
        </p:nvGrpSpPr>
        <p:grpSpPr>
          <a:xfrm>
            <a:off x="256836" y="2760018"/>
            <a:ext cx="1320840" cy="1782360"/>
            <a:chOff x="256836" y="2760018"/>
            <a:chExt cx="1320840" cy="178236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8B3D179-D8DA-1753-7C40-7944E491B65E}"/>
                    </a:ext>
                  </a:extLst>
                </p14:cNvPr>
                <p14:cNvContentPartPr/>
                <p14:nvPr/>
              </p14:nvContentPartPr>
              <p14:xfrm>
                <a:off x="542316" y="2760018"/>
                <a:ext cx="1035360" cy="920520"/>
              </p14:xfrm>
            </p:contentPart>
          </mc:Choice>
          <mc:Fallback>
            <p:pic>
              <p:nvPicPr>
                <p:cNvPr id="5" name="Ink 4">
                  <a:extLst>
                    <a:ext uri="{FF2B5EF4-FFF2-40B4-BE49-F238E27FC236}">
                      <a16:creationId xmlns:a16="http://schemas.microsoft.com/office/drawing/2014/main" id="{58B3D179-D8DA-1753-7C40-7944E491B65E}"/>
                    </a:ext>
                  </a:extLst>
                </p:cNvPr>
                <p:cNvPicPr/>
                <p:nvPr/>
              </p:nvPicPr>
              <p:blipFill>
                <a:blip r:embed="rId6"/>
                <a:stretch>
                  <a:fillRect/>
                </a:stretch>
              </p:blipFill>
              <p:spPr>
                <a:xfrm>
                  <a:off x="536196" y="2753898"/>
                  <a:ext cx="1047600" cy="9327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9193AC21-0C5D-DB37-4267-AFE5C8F85534}"/>
                    </a:ext>
                  </a:extLst>
                </p14:cNvPr>
                <p14:cNvContentPartPr/>
                <p14:nvPr/>
              </p14:nvContentPartPr>
              <p14:xfrm>
                <a:off x="256836" y="3708978"/>
                <a:ext cx="1095480" cy="833400"/>
              </p14:xfrm>
            </p:contentPart>
          </mc:Choice>
          <mc:Fallback>
            <p:pic>
              <p:nvPicPr>
                <p:cNvPr id="6" name="Ink 5">
                  <a:extLst>
                    <a:ext uri="{FF2B5EF4-FFF2-40B4-BE49-F238E27FC236}">
                      <a16:creationId xmlns:a16="http://schemas.microsoft.com/office/drawing/2014/main" id="{9193AC21-0C5D-DB37-4267-AFE5C8F85534}"/>
                    </a:ext>
                  </a:extLst>
                </p:cNvPr>
                <p:cNvPicPr/>
                <p:nvPr/>
              </p:nvPicPr>
              <p:blipFill>
                <a:blip r:embed="rId8"/>
                <a:stretch>
                  <a:fillRect/>
                </a:stretch>
              </p:blipFill>
              <p:spPr>
                <a:xfrm>
                  <a:off x="250716" y="3702858"/>
                  <a:ext cx="1107720" cy="845640"/>
                </a:xfrm>
                <a:prstGeom prst="rect">
                  <a:avLst/>
                </a:prstGeom>
              </p:spPr>
            </p:pic>
          </mc:Fallback>
        </mc:AlternateContent>
      </p:grpSp>
      <p:grpSp>
        <p:nvGrpSpPr>
          <p:cNvPr id="10" name="Group 9">
            <a:extLst>
              <a:ext uri="{FF2B5EF4-FFF2-40B4-BE49-F238E27FC236}">
                <a16:creationId xmlns:a16="http://schemas.microsoft.com/office/drawing/2014/main" id="{065245A3-BEF3-809B-3D86-F4106BD08B37}"/>
              </a:ext>
            </a:extLst>
          </p:cNvPr>
          <p:cNvGrpSpPr/>
          <p:nvPr/>
        </p:nvGrpSpPr>
        <p:grpSpPr>
          <a:xfrm>
            <a:off x="3257436" y="5813178"/>
            <a:ext cx="578880" cy="613440"/>
            <a:chOff x="3257436" y="5813178"/>
            <a:chExt cx="578880" cy="613440"/>
          </a:xfrm>
        </p:grpSpPr>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CF1978D8-90DD-68B2-A161-D9BB8186C32E}"/>
                    </a:ext>
                  </a:extLst>
                </p14:cNvPr>
                <p14:cNvContentPartPr/>
                <p14:nvPr/>
              </p14:nvContentPartPr>
              <p14:xfrm>
                <a:off x="3257436" y="5813178"/>
                <a:ext cx="313200" cy="230760"/>
              </p14:xfrm>
            </p:contentPart>
          </mc:Choice>
          <mc:Fallback>
            <p:pic>
              <p:nvPicPr>
                <p:cNvPr id="8" name="Ink 7">
                  <a:extLst>
                    <a:ext uri="{FF2B5EF4-FFF2-40B4-BE49-F238E27FC236}">
                      <a16:creationId xmlns:a16="http://schemas.microsoft.com/office/drawing/2014/main" id="{CF1978D8-90DD-68B2-A161-D9BB8186C32E}"/>
                    </a:ext>
                  </a:extLst>
                </p:cNvPr>
                <p:cNvPicPr/>
                <p:nvPr/>
              </p:nvPicPr>
              <p:blipFill>
                <a:blip r:embed="rId10"/>
                <a:stretch>
                  <a:fillRect/>
                </a:stretch>
              </p:blipFill>
              <p:spPr>
                <a:xfrm>
                  <a:off x="3251316" y="5807058"/>
                  <a:ext cx="32544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0D95D3E5-C161-9B58-8AF4-4EDF821222FA}"/>
                    </a:ext>
                  </a:extLst>
                </p14:cNvPr>
                <p14:cNvContentPartPr/>
                <p14:nvPr/>
              </p14:nvContentPartPr>
              <p14:xfrm>
                <a:off x="3618156" y="6227898"/>
                <a:ext cx="218160" cy="198720"/>
              </p14:xfrm>
            </p:contentPart>
          </mc:Choice>
          <mc:Fallback>
            <p:pic>
              <p:nvPicPr>
                <p:cNvPr id="9" name="Ink 8">
                  <a:extLst>
                    <a:ext uri="{FF2B5EF4-FFF2-40B4-BE49-F238E27FC236}">
                      <a16:creationId xmlns:a16="http://schemas.microsoft.com/office/drawing/2014/main" id="{0D95D3E5-C161-9B58-8AF4-4EDF821222FA}"/>
                    </a:ext>
                  </a:extLst>
                </p:cNvPr>
                <p:cNvPicPr/>
                <p:nvPr/>
              </p:nvPicPr>
              <p:blipFill>
                <a:blip r:embed="rId12"/>
                <a:stretch>
                  <a:fillRect/>
                </a:stretch>
              </p:blipFill>
              <p:spPr>
                <a:xfrm>
                  <a:off x="3612036" y="6221778"/>
                  <a:ext cx="230400" cy="210960"/>
                </a:xfrm>
                <a:prstGeom prst="rect">
                  <a:avLst/>
                </a:prstGeom>
              </p:spPr>
            </p:pic>
          </mc:Fallback>
        </mc:AlternateContent>
      </p:grpSp>
    </p:spTree>
    <p:extLst>
      <p:ext uri="{BB962C8B-B14F-4D97-AF65-F5344CB8AC3E}">
        <p14:creationId xmlns:p14="http://schemas.microsoft.com/office/powerpoint/2010/main" val="73732374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AC29-AC50-CA8C-384E-6648A9EB69C8}"/>
              </a:ext>
            </a:extLst>
          </p:cNvPr>
          <p:cNvSpPr>
            <a:spLocks noGrp="1"/>
          </p:cNvSpPr>
          <p:nvPr>
            <p:ph type="title"/>
          </p:nvPr>
        </p:nvSpPr>
        <p:spPr>
          <a:xfrm>
            <a:off x="2895600" y="4694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7665AEF5-08F5-900B-26C3-5D3A8281165C}"/>
              </a:ext>
            </a:extLst>
          </p:cNvPr>
          <p:cNvSpPr>
            <a:spLocks noGrp="1"/>
          </p:cNvSpPr>
          <p:nvPr>
            <p:ph idx="1"/>
          </p:nvPr>
        </p:nvSpPr>
        <p:spPr>
          <a:xfrm>
            <a:off x="548148" y="1514169"/>
            <a:ext cx="10820400" cy="5063612"/>
          </a:xfrm>
        </p:spPr>
        <p:txBody>
          <a:bodyPr>
            <a:normAutofit lnSpcReduction="10000"/>
          </a:bodyPr>
          <a:lstStyle/>
          <a:p>
            <a:pPr>
              <a:lnSpc>
                <a:spcPct val="100000"/>
              </a:lnSpc>
            </a:pPr>
            <a:r>
              <a:rPr lang="en-IN" b="1" dirty="0"/>
              <a:t>5</a:t>
            </a:r>
            <a:r>
              <a:rPr lang="en-IN" sz="2100" b="1" dirty="0">
                <a:latin typeface="Bahnschrift" panose="020B0502040204020203" pitchFamily="34" charset="0"/>
              </a:rPr>
              <a:t>) Convert JSON to CSV Prompt: Write a Java utility to convert the following JSON array to a CSV file:</a:t>
            </a:r>
          </a:p>
          <a:p>
            <a:pPr>
              <a:lnSpc>
                <a:spcPct val="100000"/>
              </a:lnSpc>
            </a:pPr>
            <a:r>
              <a:rPr lang="en-IN" sz="2100" dirty="0">
                <a:latin typeface="Bahnschrift" panose="020B0502040204020203" pitchFamily="34" charset="0"/>
              </a:rPr>
              <a:t> [  { "id": 1, "name": "Alice", "email": "alice@example.com" }, { "id": 2, "name": "Bob", "email": "bob@example.com" } ]</a:t>
            </a:r>
          </a:p>
          <a:p>
            <a:pPr>
              <a:lnSpc>
                <a:spcPct val="100000"/>
              </a:lnSpc>
            </a:pPr>
            <a:r>
              <a:rPr lang="en-IN" sz="2100" b="1" dirty="0">
                <a:latin typeface="Bahnschrift" panose="020B0502040204020203" pitchFamily="34" charset="0"/>
              </a:rPr>
              <a:t>6) Convert CSV to JSON Prompt: </a:t>
            </a:r>
          </a:p>
          <a:p>
            <a:pPr>
              <a:lnSpc>
                <a:spcPct val="100000"/>
              </a:lnSpc>
            </a:pPr>
            <a:r>
              <a:rPr lang="en-IN" sz="2100" dirty="0">
                <a:latin typeface="Bahnschrift" panose="020B0502040204020203" pitchFamily="34" charset="0"/>
              </a:rPr>
              <a:t>Write a Java program to read a CSV file containing columns id, name, and email, and convert it into a JSON array.</a:t>
            </a:r>
          </a:p>
          <a:p>
            <a:pPr>
              <a:lnSpc>
                <a:spcPct val="100000"/>
              </a:lnSpc>
            </a:pPr>
            <a:r>
              <a:rPr lang="en-US" sz="2100" b="1" dirty="0">
                <a:latin typeface="Bahnschrift" panose="020B0502040204020203" pitchFamily="34" charset="0"/>
              </a:rPr>
              <a:t>7) Creating Utility to Read Data from JSON File Prompt: </a:t>
            </a:r>
          </a:p>
          <a:p>
            <a:pPr>
              <a:lnSpc>
                <a:spcPct val="100000"/>
              </a:lnSpc>
            </a:pPr>
            <a:r>
              <a:rPr lang="en-US" sz="2100" dirty="0">
                <a:latin typeface="Bahnschrift" panose="020B0502040204020203" pitchFamily="34" charset="0"/>
              </a:rPr>
              <a:t>Write a Java utility to read data from a JSON file and return it as a Java object using Jackson. Assume the JSON contains a list of users with id, name, and email fields.</a:t>
            </a:r>
          </a:p>
          <a:p>
            <a:pPr>
              <a:lnSpc>
                <a:spcPct val="100000"/>
              </a:lnSpc>
            </a:pPr>
            <a:r>
              <a:rPr lang="en-US" sz="2100" b="1" dirty="0">
                <a:latin typeface="Bahnschrift" panose="020B0502040204020203" pitchFamily="34" charset="0"/>
              </a:rPr>
              <a:t> 8) Creating Utility to Read Data from CSV File Prompt: </a:t>
            </a:r>
          </a:p>
          <a:p>
            <a:pPr>
              <a:lnSpc>
                <a:spcPct val="100000"/>
              </a:lnSpc>
            </a:pPr>
            <a:r>
              <a:rPr lang="en-US" sz="2100" dirty="0">
                <a:latin typeface="Bahnschrift" panose="020B0502040204020203" pitchFamily="34" charset="0"/>
              </a:rPr>
              <a:t>Write a Java utility to read a CSV file containing id, name, and email fields and return a list of Java objects.</a:t>
            </a:r>
            <a:endParaRPr lang="en-IN" sz="2100" dirty="0">
              <a:latin typeface="Bahnschrift" panose="020B0502040204020203" pitchFamily="34" charset="0"/>
            </a:endParaRPr>
          </a:p>
        </p:txBody>
      </p:sp>
    </p:spTree>
    <p:extLst>
      <p:ext uri="{BB962C8B-B14F-4D97-AF65-F5344CB8AC3E}">
        <p14:creationId xmlns:p14="http://schemas.microsoft.com/office/powerpoint/2010/main" val="3548194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8FEE-A498-258E-5B02-54F8637FE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20334-150E-4FA0-FF87-28989CE70FDE}"/>
              </a:ext>
            </a:extLst>
          </p:cNvPr>
          <p:cNvSpPr>
            <a:spLocks noGrp="1"/>
          </p:cNvSpPr>
          <p:nvPr>
            <p:ph type="ctrTitle"/>
          </p:nvPr>
        </p:nvSpPr>
        <p:spPr/>
        <p:txBody>
          <a:bodyPr/>
          <a:lstStyle/>
          <a:p>
            <a:r>
              <a:rPr lang="en-IN" dirty="0">
                <a:latin typeface="Arial Black" panose="020B0A04020102020204" pitchFamily="34" charset="0"/>
              </a:rPr>
              <a:t>Generative ai in Selenium</a:t>
            </a:r>
          </a:p>
        </p:txBody>
      </p:sp>
      <p:sp>
        <p:nvSpPr>
          <p:cNvPr id="3" name="Subtitle 2">
            <a:extLst>
              <a:ext uri="{FF2B5EF4-FFF2-40B4-BE49-F238E27FC236}">
                <a16:creationId xmlns:a16="http://schemas.microsoft.com/office/drawing/2014/main" id="{0EC1EC62-AEAF-1EAC-632D-A4057E0659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02491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F551-FED0-7DC3-F31B-86AA737763AA}"/>
              </a:ext>
            </a:extLst>
          </p:cNvPr>
          <p:cNvSpPr>
            <a:spLocks noGrp="1"/>
          </p:cNvSpPr>
          <p:nvPr>
            <p:ph type="title"/>
          </p:nvPr>
        </p:nvSpPr>
        <p:spPr>
          <a:xfrm>
            <a:off x="2895599" y="943897"/>
            <a:ext cx="8893277" cy="1113504"/>
          </a:xfrm>
        </p:spPr>
        <p:txBody>
          <a:bodyPr>
            <a:noAutofit/>
          </a:bodyPr>
          <a:lstStyle/>
          <a:p>
            <a:r>
              <a:rPr lang="en-US" dirty="0">
                <a:latin typeface="Arial Black" panose="020B0A04020102020204" pitchFamily="34" charset="0"/>
              </a:rPr>
              <a:t>Key Benefits of Using Generative AI in Selenium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74435F0-11EB-6891-4F83-F338D22F3094}"/>
              </a:ext>
            </a:extLst>
          </p:cNvPr>
          <p:cNvSpPr>
            <a:spLocks noGrp="1"/>
          </p:cNvSpPr>
          <p:nvPr>
            <p:ph idx="1"/>
          </p:nvPr>
        </p:nvSpPr>
        <p:spPr>
          <a:xfrm>
            <a:off x="685800" y="2194560"/>
            <a:ext cx="10820400" cy="4432382"/>
          </a:xfrm>
        </p:spPr>
        <p:txBody>
          <a:bodyPr>
            <a:normAutofit/>
          </a:bodyPr>
          <a:lstStyle/>
          <a:p>
            <a:pPr>
              <a:lnSpc>
                <a:spcPct val="80000"/>
              </a:lnSpc>
            </a:pPr>
            <a:r>
              <a:rPr lang="en-US" dirty="0">
                <a:latin typeface="Bahnschrift" panose="020B0502040204020203" pitchFamily="34" charset="0"/>
              </a:rPr>
              <a:t>Generative AI can enhance productivity in Selenium web automation by assisting with various tasks, including: </a:t>
            </a:r>
          </a:p>
          <a:p>
            <a:pPr>
              <a:lnSpc>
                <a:spcPct val="80000"/>
              </a:lnSpc>
            </a:pPr>
            <a:r>
              <a:rPr lang="en-US" dirty="0">
                <a:latin typeface="Bahnschrift" panose="020B0502040204020203" pitchFamily="34" charset="0"/>
              </a:rPr>
              <a:t>● Generating Test Scripts: Automates the creation of test scripts. </a:t>
            </a:r>
          </a:p>
          <a:p>
            <a:pPr>
              <a:lnSpc>
                <a:spcPct val="80000"/>
              </a:lnSpc>
            </a:pPr>
            <a:r>
              <a:rPr lang="en-US" dirty="0">
                <a:latin typeface="Bahnschrift" panose="020B0502040204020203" pitchFamily="34" charset="0"/>
              </a:rPr>
              <a:t>● Debugging Selenium Errors: Identifies and resolves errors effectively.</a:t>
            </a:r>
          </a:p>
          <a:p>
            <a:pPr>
              <a:lnSpc>
                <a:spcPct val="80000"/>
              </a:lnSpc>
            </a:pPr>
            <a:r>
              <a:rPr lang="en-US" dirty="0">
                <a:latin typeface="Bahnschrift" panose="020B0502040204020203" pitchFamily="34" charset="0"/>
              </a:rPr>
              <a:t> ● Writing XPath and CSS Selectors: Crafts optimized and maintainable locators. </a:t>
            </a:r>
          </a:p>
          <a:p>
            <a:pPr>
              <a:lnSpc>
                <a:spcPct val="80000"/>
              </a:lnSpc>
            </a:pPr>
            <a:r>
              <a:rPr lang="en-US" dirty="0">
                <a:latin typeface="Bahnschrift" panose="020B0502040204020203" pitchFamily="34" charset="0"/>
              </a:rPr>
              <a:t>● Creating Test Data: Generates realistic test data for automation. </a:t>
            </a:r>
          </a:p>
          <a:p>
            <a:pPr>
              <a:lnSpc>
                <a:spcPct val="80000"/>
              </a:lnSpc>
            </a:pPr>
            <a:r>
              <a:rPr lang="en-US" dirty="0">
                <a:latin typeface="Bahnschrift" panose="020B0502040204020203" pitchFamily="34" charset="0"/>
              </a:rPr>
              <a:t>● Automating Test Case Writing: Simplifies test case design. </a:t>
            </a:r>
          </a:p>
          <a:p>
            <a:pPr>
              <a:lnSpc>
                <a:spcPct val="80000"/>
              </a:lnSpc>
            </a:pPr>
            <a:r>
              <a:rPr lang="en-US" dirty="0">
                <a:latin typeface="Bahnschrift" panose="020B0502040204020203" pitchFamily="34" charset="0"/>
              </a:rPr>
              <a:t>● Generating Reports: Produces detailed test execution reports. </a:t>
            </a:r>
            <a:endParaRPr lang="en-IN" dirty="0">
              <a:latin typeface="Bahnschrift" panose="020B0502040204020203" pitchFamily="34" charset="0"/>
            </a:endParaRPr>
          </a:p>
        </p:txBody>
      </p:sp>
    </p:spTree>
    <p:extLst>
      <p:ext uri="{BB962C8B-B14F-4D97-AF65-F5344CB8AC3E}">
        <p14:creationId xmlns:p14="http://schemas.microsoft.com/office/powerpoint/2010/main" val="1999256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5550-F6D4-19B4-7777-5E655AAF54DD}"/>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83902B39-5387-49F2-938B-4A63FE3CBFC3}"/>
              </a:ext>
            </a:extLst>
          </p:cNvPr>
          <p:cNvSpPr>
            <a:spLocks noGrp="1"/>
          </p:cNvSpPr>
          <p:nvPr>
            <p:ph idx="1"/>
          </p:nvPr>
        </p:nvSpPr>
        <p:spPr>
          <a:xfrm>
            <a:off x="685800" y="1936956"/>
            <a:ext cx="10820400" cy="4660490"/>
          </a:xfrm>
        </p:spPr>
        <p:txBody>
          <a:bodyPr>
            <a:normAutofit fontScale="92500" lnSpcReduction="20000"/>
          </a:bodyPr>
          <a:lstStyle/>
          <a:p>
            <a:pPr>
              <a:lnSpc>
                <a:spcPct val="100000"/>
              </a:lnSpc>
            </a:pPr>
            <a:r>
              <a:rPr lang="en-IN" sz="2400" b="1" dirty="0">
                <a:latin typeface="Bahnschrift" panose="020B0502040204020203" pitchFamily="34" charset="0"/>
              </a:rPr>
              <a:t>1. Writing Selenium Test Scripts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"Write a Selenium WebDriver test script in Java using TestNG to validate the </a:t>
            </a:r>
          </a:p>
          <a:p>
            <a:pPr>
              <a:lnSpc>
                <a:spcPct val="100000"/>
              </a:lnSpc>
            </a:pPr>
            <a:r>
              <a:rPr lang="en-IN" sz="2400" dirty="0">
                <a:latin typeface="Bahnschrift" panose="020B0502040204020203" pitchFamily="34" charset="0"/>
              </a:rPr>
              <a:t>login functionality of a web application. Use the Page Object Model." </a:t>
            </a:r>
          </a:p>
          <a:p>
            <a:pPr>
              <a:lnSpc>
                <a:spcPct val="100000"/>
              </a:lnSpc>
            </a:pPr>
            <a:r>
              <a:rPr lang="en-IN" sz="2400" b="1" dirty="0">
                <a:latin typeface="Bahnschrift" panose="020B0502040204020203" pitchFamily="34" charset="0"/>
              </a:rPr>
              <a:t>2. Generating XPath &amp; CSS Selectors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"Generate an optimal XPath and CSS selector for a login button with the </a:t>
            </a:r>
          </a:p>
          <a:p>
            <a:pPr>
              <a:lnSpc>
                <a:spcPct val="100000"/>
              </a:lnSpc>
            </a:pPr>
            <a:r>
              <a:rPr lang="en-IN" sz="2400" dirty="0">
                <a:latin typeface="Bahnschrift" panose="020B0502040204020203" pitchFamily="34" charset="0"/>
              </a:rPr>
              <a:t>following HTML:  </a:t>
            </a:r>
          </a:p>
          <a:p>
            <a:pPr>
              <a:lnSpc>
                <a:spcPct val="100000"/>
              </a:lnSpc>
            </a:pPr>
            <a:r>
              <a:rPr lang="en-IN" sz="2400" dirty="0">
                <a:latin typeface="Bahnschrift" panose="020B0502040204020203" pitchFamily="34" charset="0"/>
              </a:rPr>
              <a:t>&lt;button id='</a:t>
            </a:r>
            <a:r>
              <a:rPr lang="en-IN" sz="2400" dirty="0" err="1">
                <a:latin typeface="Bahnschrift" panose="020B0502040204020203" pitchFamily="34" charset="0"/>
              </a:rPr>
              <a:t>loginBtn</a:t>
            </a:r>
            <a:r>
              <a:rPr lang="en-IN" sz="2400" dirty="0">
                <a:latin typeface="Bahnschrift" panose="020B0502040204020203" pitchFamily="34" charset="0"/>
              </a:rPr>
              <a:t>' class='</a:t>
            </a:r>
            <a:r>
              <a:rPr lang="en-IN" sz="2400" dirty="0" err="1">
                <a:latin typeface="Bahnschrift" panose="020B0502040204020203" pitchFamily="34" charset="0"/>
              </a:rPr>
              <a:t>btn</a:t>
            </a:r>
            <a:r>
              <a:rPr lang="en-IN" sz="2400" dirty="0">
                <a:latin typeface="Bahnschrift" panose="020B0502040204020203" pitchFamily="34" charset="0"/>
              </a:rPr>
              <a:t> primary' </a:t>
            </a:r>
          </a:p>
          <a:p>
            <a:pPr>
              <a:lnSpc>
                <a:spcPct val="100000"/>
              </a:lnSpc>
            </a:pPr>
            <a:r>
              <a:rPr lang="en-IN" sz="2400" dirty="0">
                <a:latin typeface="Bahnschrift" panose="020B0502040204020203" pitchFamily="34" charset="0"/>
              </a:rPr>
              <a:t>type='submit'&gt;Login&lt;/button&gt;  </a:t>
            </a:r>
          </a:p>
          <a:p>
            <a:pPr>
              <a:lnSpc>
                <a:spcPct val="100000"/>
              </a:lnSpc>
            </a:pPr>
            <a:r>
              <a:rPr lang="en-IN" sz="2400" dirty="0">
                <a:latin typeface="Bahnschrift" panose="020B0502040204020203" pitchFamily="34" charset="0"/>
              </a:rPr>
              <a:t>Use best practices for maintainability."</a:t>
            </a:r>
          </a:p>
          <a:p>
            <a:endParaRPr lang="en-IN" dirty="0"/>
          </a:p>
        </p:txBody>
      </p:sp>
    </p:spTree>
    <p:extLst>
      <p:ext uri="{BB962C8B-B14F-4D97-AF65-F5344CB8AC3E}">
        <p14:creationId xmlns:p14="http://schemas.microsoft.com/office/powerpoint/2010/main" val="3528516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B4E-1E5B-5F41-E742-00089467C50E}"/>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0B3273B3-D98E-42C1-4BEE-20F8BACF2FAA}"/>
              </a:ext>
            </a:extLst>
          </p:cNvPr>
          <p:cNvSpPr>
            <a:spLocks noGrp="1"/>
          </p:cNvSpPr>
          <p:nvPr>
            <p:ph idx="1"/>
          </p:nvPr>
        </p:nvSpPr>
        <p:spPr/>
        <p:txBody>
          <a:bodyPr/>
          <a:lstStyle/>
          <a:p>
            <a:pPr>
              <a:lnSpc>
                <a:spcPct val="80000"/>
              </a:lnSpc>
            </a:pPr>
            <a:r>
              <a:rPr lang="en-IN" b="1" dirty="0">
                <a:latin typeface="Bahnschrift" panose="020B0502040204020203" pitchFamily="34" charset="0"/>
              </a:rPr>
              <a:t>3. Debugging Selenium Errors </a:t>
            </a:r>
          </a:p>
          <a:p>
            <a:pPr>
              <a:lnSpc>
                <a:spcPct val="80000"/>
              </a:lnSpc>
            </a:pPr>
            <a:r>
              <a:rPr lang="en-IN" b="1" dirty="0">
                <a:latin typeface="Bahnschrift" panose="020B0502040204020203" pitchFamily="34" charset="0"/>
              </a:rPr>
              <a:t>Prompt: </a:t>
            </a:r>
          </a:p>
          <a:p>
            <a:pPr>
              <a:lnSpc>
                <a:spcPct val="80000"/>
              </a:lnSpc>
            </a:pPr>
            <a:r>
              <a:rPr lang="en-IN" dirty="0">
                <a:latin typeface="Bahnschrift" panose="020B0502040204020203" pitchFamily="34" charset="0"/>
              </a:rPr>
              <a:t>"I am getting the following Selenium error: </a:t>
            </a:r>
          </a:p>
          <a:p>
            <a:pPr>
              <a:lnSpc>
                <a:spcPct val="80000"/>
              </a:lnSpc>
            </a:pPr>
            <a:r>
              <a:rPr lang="en-IN" dirty="0" err="1">
                <a:solidFill>
                  <a:srgbClr val="FF0000"/>
                </a:solidFill>
                <a:latin typeface="Bahnschrift" panose="020B0502040204020203" pitchFamily="34" charset="0"/>
              </a:rPr>
              <a:t>org.openqa.selenium.NoSuchElementException</a:t>
            </a:r>
            <a:r>
              <a:rPr lang="en-IN" dirty="0">
                <a:solidFill>
                  <a:srgbClr val="FF0000"/>
                </a:solidFill>
                <a:latin typeface="Bahnschrift" panose="020B0502040204020203" pitchFamily="34" charset="0"/>
              </a:rPr>
              <a:t>: Unable to </a:t>
            </a:r>
          </a:p>
          <a:p>
            <a:pPr>
              <a:lnSpc>
                <a:spcPct val="80000"/>
              </a:lnSpc>
            </a:pPr>
            <a:r>
              <a:rPr lang="en-IN" dirty="0">
                <a:solidFill>
                  <a:srgbClr val="FF0000"/>
                </a:solidFill>
                <a:latin typeface="Bahnschrift" panose="020B0502040204020203" pitchFamily="34" charset="0"/>
              </a:rPr>
              <a:t>locate element  </a:t>
            </a:r>
          </a:p>
          <a:p>
            <a:pPr>
              <a:lnSpc>
                <a:spcPct val="80000"/>
              </a:lnSpc>
            </a:pPr>
            <a:r>
              <a:rPr lang="en-IN" dirty="0">
                <a:latin typeface="Bahnschrift" panose="020B0502040204020203" pitchFamily="34" charset="0"/>
              </a:rPr>
              <a:t>Here is my code snippet: </a:t>
            </a:r>
          </a:p>
          <a:p>
            <a:pPr>
              <a:lnSpc>
                <a:spcPct val="80000"/>
              </a:lnSpc>
            </a:pPr>
            <a:r>
              <a:rPr lang="en-IN" dirty="0" err="1">
                <a:latin typeface="Bahnschrift" panose="020B0502040204020203" pitchFamily="34" charset="0"/>
              </a:rPr>
              <a:t>driver.findElement</a:t>
            </a:r>
            <a:r>
              <a:rPr lang="en-IN" dirty="0">
                <a:latin typeface="Bahnschrift" panose="020B0502040204020203" pitchFamily="34" charset="0"/>
              </a:rPr>
              <a:t>(By.id("</a:t>
            </a:r>
            <a:r>
              <a:rPr lang="en-IN" dirty="0" err="1">
                <a:latin typeface="Bahnschrift" panose="020B0502040204020203" pitchFamily="34" charset="0"/>
              </a:rPr>
              <a:t>loginBtn</a:t>
            </a:r>
            <a:r>
              <a:rPr lang="en-IN" dirty="0">
                <a:latin typeface="Bahnschrift" panose="020B0502040204020203" pitchFamily="34" charset="0"/>
              </a:rPr>
              <a:t>")).click();  </a:t>
            </a:r>
          </a:p>
          <a:p>
            <a:pPr>
              <a:lnSpc>
                <a:spcPct val="80000"/>
              </a:lnSpc>
            </a:pPr>
            <a:r>
              <a:rPr lang="en-IN" dirty="0">
                <a:latin typeface="Bahnschrift" panose="020B0502040204020203" pitchFamily="34" charset="0"/>
              </a:rPr>
              <a:t>How can I fix this issue?" </a:t>
            </a:r>
          </a:p>
          <a:p>
            <a:endParaRPr lang="en-IN" dirty="0"/>
          </a:p>
        </p:txBody>
      </p:sp>
    </p:spTree>
    <p:extLst>
      <p:ext uri="{BB962C8B-B14F-4D97-AF65-F5344CB8AC3E}">
        <p14:creationId xmlns:p14="http://schemas.microsoft.com/office/powerpoint/2010/main" val="810487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10CD-C2E4-F314-171F-AB323116A72C}"/>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7A08C361-7FCE-B32A-690E-828E2A449FCE}"/>
              </a:ext>
            </a:extLst>
          </p:cNvPr>
          <p:cNvSpPr>
            <a:spLocks noGrp="1"/>
          </p:cNvSpPr>
          <p:nvPr>
            <p:ph idx="1"/>
          </p:nvPr>
        </p:nvSpPr>
        <p:spPr>
          <a:xfrm>
            <a:off x="685800" y="1887794"/>
            <a:ext cx="10820400" cy="4330891"/>
          </a:xfrm>
        </p:spPr>
        <p:txBody>
          <a:bodyPr>
            <a:normAutofit/>
          </a:bodyPr>
          <a:lstStyle/>
          <a:p>
            <a:r>
              <a:rPr lang="en-US" b="1" dirty="0">
                <a:latin typeface="Bahnschrift" panose="020B0502040204020203" pitchFamily="34" charset="0"/>
              </a:rPr>
              <a:t>5. Writing Assertions for Selenium Tests </a:t>
            </a:r>
          </a:p>
          <a:p>
            <a:r>
              <a:rPr lang="en-US" b="1" dirty="0">
                <a:latin typeface="Bahnschrift" panose="020B0502040204020203" pitchFamily="34" charset="0"/>
              </a:rPr>
              <a:t>Prompt: </a:t>
            </a:r>
          </a:p>
          <a:p>
            <a:r>
              <a:rPr lang="en-US" dirty="0">
                <a:latin typeface="Bahnschrift" panose="020B0502040204020203" pitchFamily="34" charset="0"/>
              </a:rPr>
              <a:t>"Write assertions in TestNG using the Assert class to verify that after a </a:t>
            </a:r>
          </a:p>
          <a:p>
            <a:r>
              <a:rPr lang="en-US" dirty="0">
                <a:latin typeface="Bahnschrift" panose="020B0502040204020203" pitchFamily="34" charset="0"/>
              </a:rPr>
              <a:t>successful login, the URL contains 'dashboard' and a welcome message is </a:t>
            </a:r>
          </a:p>
          <a:p>
            <a:r>
              <a:rPr lang="en-US" dirty="0">
                <a:latin typeface="Bahnschrift" panose="020B0502040204020203" pitchFamily="34" charset="0"/>
              </a:rPr>
              <a:t>displayed." </a:t>
            </a:r>
          </a:p>
          <a:p>
            <a:r>
              <a:rPr lang="en-US" b="1" dirty="0">
                <a:latin typeface="Bahnschrift" panose="020B0502040204020203" pitchFamily="34" charset="0"/>
              </a:rPr>
              <a:t>6. Generating Test Data (Using Faker Library) </a:t>
            </a:r>
          </a:p>
          <a:p>
            <a:r>
              <a:rPr lang="en-US" b="1" dirty="0">
                <a:latin typeface="Bahnschrift" panose="020B0502040204020203" pitchFamily="34" charset="0"/>
              </a:rPr>
              <a:t>Prompt: </a:t>
            </a:r>
          </a:p>
          <a:p>
            <a:r>
              <a:rPr lang="en-US" dirty="0">
                <a:latin typeface="Bahnschrift" panose="020B0502040204020203" pitchFamily="34" charset="0"/>
              </a:rPr>
              <a:t>"Generate random test data for user registration, including name, email, </a:t>
            </a:r>
          </a:p>
          <a:p>
            <a:r>
              <a:rPr lang="en-US" dirty="0">
                <a:latin typeface="Bahnschrift" panose="020B0502040204020203" pitchFamily="34" charset="0"/>
              </a:rPr>
              <a:t>phone number, and address, using the Java Faker library in Selenium </a:t>
            </a:r>
          </a:p>
          <a:p>
            <a:r>
              <a:rPr lang="en-US" dirty="0">
                <a:latin typeface="Bahnschrift" panose="020B0502040204020203" pitchFamily="34" charset="0"/>
              </a:rPr>
              <a:t>automation."</a:t>
            </a:r>
          </a:p>
          <a:p>
            <a:endParaRPr lang="en-IN" dirty="0"/>
          </a:p>
        </p:txBody>
      </p:sp>
    </p:spTree>
    <p:extLst>
      <p:ext uri="{BB962C8B-B14F-4D97-AF65-F5344CB8AC3E}">
        <p14:creationId xmlns:p14="http://schemas.microsoft.com/office/powerpoint/2010/main" val="3598612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CB9A-C2A8-1036-4ECD-FDC2C91BC01C}"/>
              </a:ext>
            </a:extLst>
          </p:cNvPr>
          <p:cNvSpPr>
            <a:spLocks noGrp="1"/>
          </p:cNvSpPr>
          <p:nvPr>
            <p:ph type="title"/>
          </p:nvPr>
        </p:nvSpPr>
        <p:spPr>
          <a:xfrm>
            <a:off x="2993923" y="231058"/>
            <a:ext cx="8610600" cy="1293028"/>
          </a:xfrm>
        </p:spPr>
        <p:txBody>
          <a:bodyPr/>
          <a:lstStyle/>
          <a:p>
            <a:r>
              <a:rPr lang="en-IN" dirty="0">
                <a:latin typeface="Arial Black" panose="020B0A04020102020204" pitchFamily="34" charset="0"/>
              </a:rPr>
              <a:t>Limitation of </a:t>
            </a:r>
            <a:r>
              <a:rPr lang="en-IN" dirty="0" err="1">
                <a:latin typeface="Arial Black" panose="020B0A04020102020204" pitchFamily="34" charset="0"/>
              </a:rPr>
              <a:t>llms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86CD3DB-E72B-3AB9-6619-1E0529BD4D15}"/>
              </a:ext>
            </a:extLst>
          </p:cNvPr>
          <p:cNvSpPr>
            <a:spLocks noGrp="1"/>
          </p:cNvSpPr>
          <p:nvPr>
            <p:ph idx="1"/>
          </p:nvPr>
        </p:nvSpPr>
        <p:spPr>
          <a:xfrm>
            <a:off x="685800" y="1396181"/>
            <a:ext cx="10820400" cy="5230761"/>
          </a:xfrm>
        </p:spPr>
        <p:txBody>
          <a:bodyPr>
            <a:normAutofit fontScale="77500" lnSpcReduction="20000"/>
          </a:bodyPr>
          <a:lstStyle/>
          <a:p>
            <a:pPr lvl="0">
              <a:lnSpc>
                <a:spcPct val="110000"/>
              </a:lnSpc>
            </a:pPr>
            <a:r>
              <a:rPr lang="en-IN" sz="2900" b="1" dirty="0">
                <a:latin typeface="Bahnschrift" panose="020B0502040204020203" pitchFamily="34" charset="0"/>
              </a:rPr>
              <a:t>Lack of Real-Time Knowledge: </a:t>
            </a:r>
            <a:r>
              <a:rPr lang="en-IN" sz="2900" dirty="0">
                <a:latin typeface="Bahnschrift" panose="020B0502040204020203" pitchFamily="34" charset="0"/>
              </a:rPr>
              <a:t>LLMs are trained on data up to a certain point and cannot access real-time or updated information. </a:t>
            </a:r>
          </a:p>
          <a:p>
            <a:pPr>
              <a:lnSpc>
                <a:spcPct val="110000"/>
              </a:lnSpc>
            </a:pPr>
            <a:r>
              <a:rPr lang="en-IN" sz="2900" b="1" dirty="0">
                <a:latin typeface="Bahnschrift" panose="020B0502040204020203" pitchFamily="34" charset="0"/>
              </a:rPr>
              <a:t>For example: </a:t>
            </a:r>
            <a:r>
              <a:rPr lang="en-IN" sz="2900" dirty="0">
                <a:latin typeface="Bahnschrift" panose="020B0502040204020203" pitchFamily="34" charset="0"/>
              </a:rPr>
              <a:t>ChatGPT (as of 2021 data) won’t know about events in 2023.</a:t>
            </a:r>
          </a:p>
          <a:p>
            <a:pPr marL="228600" lvl="1">
              <a:lnSpc>
                <a:spcPct val="110000"/>
              </a:lnSpc>
              <a:spcBef>
                <a:spcPts val="1000"/>
              </a:spcBef>
            </a:pPr>
            <a:r>
              <a:rPr lang="en-IN" sz="2900" dirty="0">
                <a:latin typeface="Bahnschrift" panose="020B0502040204020203" pitchFamily="34" charset="0"/>
              </a:rPr>
              <a:t>Asking an LLM about a recently released software tool might result in outdated details.</a:t>
            </a:r>
          </a:p>
          <a:p>
            <a:pPr lvl="0">
              <a:lnSpc>
                <a:spcPct val="110000"/>
              </a:lnSpc>
            </a:pPr>
            <a:r>
              <a:rPr lang="en-IN" sz="2900" b="1" dirty="0">
                <a:latin typeface="Bahnschrift" panose="020B0502040204020203" pitchFamily="34" charset="0"/>
              </a:rPr>
              <a:t>No Contextual Memory: </a:t>
            </a:r>
            <a:r>
              <a:rPr lang="en-IN" sz="2900" dirty="0">
                <a:latin typeface="Bahnschrift" panose="020B0502040204020203" pitchFamily="34" charset="0"/>
              </a:rPr>
              <a:t>LLMs don’t retain memory of past interactions. Each query is treated independently.</a:t>
            </a:r>
          </a:p>
          <a:p>
            <a:pPr lvl="0">
              <a:lnSpc>
                <a:spcPct val="110000"/>
              </a:lnSpc>
            </a:pPr>
            <a:r>
              <a:rPr lang="en-IN" sz="2900" b="1" dirty="0">
                <a:latin typeface="Bahnschrift" panose="020B0502040204020203" pitchFamily="34" charset="0"/>
              </a:rPr>
              <a:t>Inability to Perform Actions: </a:t>
            </a:r>
            <a:r>
              <a:rPr lang="en-IN" sz="2900" dirty="0">
                <a:latin typeface="Bahnschrift" panose="020B0502040204020203" pitchFamily="34" charset="0"/>
              </a:rPr>
              <a:t>LLMs can generate text but cannot perform tasks like booking a flight or sending an email.</a:t>
            </a:r>
          </a:p>
          <a:p>
            <a:pPr lvl="0">
              <a:lnSpc>
                <a:spcPct val="110000"/>
              </a:lnSpc>
            </a:pPr>
            <a:r>
              <a:rPr lang="en-IN" sz="2900" b="1" dirty="0">
                <a:latin typeface="Bahnschrift" panose="020B0502040204020203" pitchFamily="34" charset="0"/>
              </a:rPr>
              <a:t>Bias and Inaccuracy: </a:t>
            </a:r>
            <a:r>
              <a:rPr lang="en-IN" sz="2900" dirty="0">
                <a:latin typeface="Bahnschrift" panose="020B0502040204020203" pitchFamily="34" charset="0"/>
              </a:rPr>
              <a:t>LLMs may produce biased or incorrect outputs based on their training data.</a:t>
            </a:r>
          </a:p>
          <a:p>
            <a:pPr lvl="0">
              <a:lnSpc>
                <a:spcPct val="110000"/>
              </a:lnSpc>
            </a:pPr>
            <a:r>
              <a:rPr lang="en-IN" sz="2900" b="1" dirty="0">
                <a:latin typeface="Bahnschrift" panose="020B0502040204020203" pitchFamily="34" charset="0"/>
              </a:rPr>
              <a:t>Limited Understanding: </a:t>
            </a:r>
            <a:r>
              <a:rPr lang="en-IN" sz="2900" dirty="0">
                <a:latin typeface="Bahnschrift" panose="020B0502040204020203" pitchFamily="34" charset="0"/>
              </a:rPr>
              <a:t>LLMs can't truly understand context like humans. They generate responses based on patterns, not actual comprehension.</a:t>
            </a:r>
          </a:p>
          <a:p>
            <a:endParaRPr lang="en-IN" dirty="0"/>
          </a:p>
        </p:txBody>
      </p:sp>
    </p:spTree>
    <p:extLst>
      <p:ext uri="{BB962C8B-B14F-4D97-AF65-F5344CB8AC3E}">
        <p14:creationId xmlns:p14="http://schemas.microsoft.com/office/powerpoint/2010/main" val="2531907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9384-B1C6-E5C9-345B-CFDA27C9B48D}"/>
              </a:ext>
            </a:extLst>
          </p:cNvPr>
          <p:cNvSpPr>
            <a:spLocks noGrp="1"/>
          </p:cNvSpPr>
          <p:nvPr>
            <p:ph type="title"/>
          </p:nvPr>
        </p:nvSpPr>
        <p:spPr>
          <a:xfrm>
            <a:off x="2895600" y="321921"/>
            <a:ext cx="8610600" cy="1293028"/>
          </a:xfrm>
        </p:spPr>
        <p:txBody>
          <a:bodyPr/>
          <a:lstStyle/>
          <a:p>
            <a:r>
              <a:rPr lang="en-IN" dirty="0">
                <a:latin typeface="Arial Black" panose="020B0A04020102020204" pitchFamily="34" charset="0"/>
              </a:rPr>
              <a:t>AI Agent</a:t>
            </a:r>
          </a:p>
        </p:txBody>
      </p:sp>
      <p:sp>
        <p:nvSpPr>
          <p:cNvPr id="3" name="Content Placeholder 2">
            <a:extLst>
              <a:ext uri="{FF2B5EF4-FFF2-40B4-BE49-F238E27FC236}">
                <a16:creationId xmlns:a16="http://schemas.microsoft.com/office/drawing/2014/main" id="{8478EB47-561F-6BE8-FCAE-CEAB3375461A}"/>
              </a:ext>
            </a:extLst>
          </p:cNvPr>
          <p:cNvSpPr>
            <a:spLocks noGrp="1"/>
          </p:cNvSpPr>
          <p:nvPr>
            <p:ph idx="1"/>
          </p:nvPr>
        </p:nvSpPr>
        <p:spPr>
          <a:xfrm>
            <a:off x="685800" y="1327356"/>
            <a:ext cx="10820400" cy="5208724"/>
          </a:xfrm>
        </p:spPr>
        <p:txBody>
          <a:bodyPr>
            <a:normAutofit fontScale="92500" lnSpcReduction="20000"/>
          </a:bodyPr>
          <a:lstStyle/>
          <a:p>
            <a:pPr>
              <a:lnSpc>
                <a:spcPct val="100000"/>
              </a:lnSpc>
            </a:pPr>
            <a:r>
              <a:rPr lang="en-IN" sz="2400" dirty="0">
                <a:latin typeface="Bahnschrift" panose="020B0502040204020203" pitchFamily="34" charset="0"/>
              </a:rPr>
              <a:t>An AI agent is a system that uses artificial intelligence to perform tasks autonomously. </a:t>
            </a:r>
          </a:p>
          <a:p>
            <a:pPr>
              <a:lnSpc>
                <a:spcPct val="100000"/>
              </a:lnSpc>
            </a:pPr>
            <a:r>
              <a:rPr lang="en-IN" sz="2400" dirty="0">
                <a:latin typeface="Bahnschrift" panose="020B0502040204020203" pitchFamily="34" charset="0"/>
              </a:rPr>
              <a:t>It can perceive its environment, make decisions, and take actions to achieve specific goals. AI agents often combine LLMs with other tools, APIs, and decision-making algorithms.</a:t>
            </a:r>
          </a:p>
          <a:p>
            <a:pPr>
              <a:lnSpc>
                <a:spcPct val="100000"/>
              </a:lnSpc>
            </a:pPr>
            <a:r>
              <a:rPr lang="en-IN" sz="2400" b="1" dirty="0">
                <a:latin typeface="Bahnschrift" panose="020B0502040204020203" pitchFamily="34" charset="0"/>
              </a:rPr>
              <a:t>Key Features:</a:t>
            </a:r>
          </a:p>
          <a:p>
            <a:pPr lvl="0">
              <a:lnSpc>
                <a:spcPct val="100000"/>
              </a:lnSpc>
            </a:pPr>
            <a:r>
              <a:rPr lang="en-IN" sz="2400" dirty="0">
                <a:latin typeface="Bahnschrift" panose="020B0502040204020203" pitchFamily="34" charset="0"/>
              </a:rPr>
              <a:t>Autonomy: Can operate without constant human intervention.</a:t>
            </a:r>
          </a:p>
          <a:p>
            <a:pPr lvl="0">
              <a:lnSpc>
                <a:spcPct val="100000"/>
              </a:lnSpc>
            </a:pPr>
            <a:r>
              <a:rPr lang="en-IN" sz="2400" dirty="0">
                <a:latin typeface="Bahnschrift" panose="020B0502040204020203" pitchFamily="34" charset="0"/>
              </a:rPr>
              <a:t>Adaptability: Learns and improves over time.</a:t>
            </a:r>
          </a:p>
          <a:p>
            <a:pPr lvl="0">
              <a:lnSpc>
                <a:spcPct val="100000"/>
              </a:lnSpc>
            </a:pPr>
            <a:r>
              <a:rPr lang="en-IN" sz="2400" dirty="0">
                <a:latin typeface="Bahnschrift" panose="020B0502040204020203" pitchFamily="34" charset="0"/>
              </a:rPr>
              <a:t>Goal-Oriented: Designed to achieve specific objectives.</a:t>
            </a:r>
          </a:p>
          <a:p>
            <a:pPr>
              <a:lnSpc>
                <a:spcPct val="100000"/>
              </a:lnSpc>
            </a:pPr>
            <a:r>
              <a:rPr lang="en-IN" sz="2400" dirty="0">
                <a:latin typeface="Bahnschrift" panose="020B0502040204020203" pitchFamily="34" charset="0"/>
              </a:rPr>
              <a:t>Examples: </a:t>
            </a:r>
          </a:p>
          <a:p>
            <a:pPr>
              <a:lnSpc>
                <a:spcPct val="100000"/>
              </a:lnSpc>
            </a:pPr>
            <a:r>
              <a:rPr lang="en-IN" sz="2400" dirty="0">
                <a:latin typeface="Bahnschrift" panose="020B0502040204020203" pitchFamily="34" charset="0"/>
              </a:rPr>
              <a:t>A customer support AI agent can answer queries, resolve issues, and escalate problems to human agents if needed.</a:t>
            </a:r>
          </a:p>
          <a:p>
            <a:pPr>
              <a:lnSpc>
                <a:spcPct val="100000"/>
              </a:lnSpc>
            </a:pPr>
            <a:r>
              <a:rPr lang="en-IN" sz="2400" dirty="0">
                <a:latin typeface="Bahnschrift" panose="020B0502040204020203" pitchFamily="34" charset="0"/>
              </a:rPr>
              <a:t>A chatbot that not only responds to user queries but also books a ticket for a flight, considering available options, user preferences, and payment details.</a:t>
            </a:r>
          </a:p>
          <a:p>
            <a:endParaRPr lang="en-IN" dirty="0"/>
          </a:p>
        </p:txBody>
      </p:sp>
    </p:spTree>
    <p:extLst>
      <p:ext uri="{BB962C8B-B14F-4D97-AF65-F5344CB8AC3E}">
        <p14:creationId xmlns:p14="http://schemas.microsoft.com/office/powerpoint/2010/main" val="437071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7AF1-1194-70E3-46AD-32EDB6D2105A}"/>
              </a:ext>
            </a:extLst>
          </p:cNvPr>
          <p:cNvSpPr>
            <a:spLocks noGrp="1"/>
          </p:cNvSpPr>
          <p:nvPr>
            <p:ph type="title"/>
          </p:nvPr>
        </p:nvSpPr>
        <p:spPr/>
        <p:txBody>
          <a:bodyPr/>
          <a:lstStyle/>
          <a:p>
            <a:r>
              <a:rPr lang="en-IN" dirty="0">
                <a:latin typeface="Arial Black" panose="020B0A04020102020204" pitchFamily="34" charset="0"/>
              </a:rPr>
              <a:t>Ai agent examples</a:t>
            </a:r>
          </a:p>
        </p:txBody>
      </p:sp>
      <p:sp>
        <p:nvSpPr>
          <p:cNvPr id="3" name="Content Placeholder 2">
            <a:extLst>
              <a:ext uri="{FF2B5EF4-FFF2-40B4-BE49-F238E27FC236}">
                <a16:creationId xmlns:a16="http://schemas.microsoft.com/office/drawing/2014/main" id="{A908327D-7A77-8336-5A95-16EDF91B5B36}"/>
              </a:ext>
            </a:extLst>
          </p:cNvPr>
          <p:cNvSpPr>
            <a:spLocks noGrp="1"/>
          </p:cNvSpPr>
          <p:nvPr>
            <p:ph idx="1"/>
          </p:nvPr>
        </p:nvSpPr>
        <p:spPr/>
        <p:txBody>
          <a:bodyPr/>
          <a:lstStyle/>
          <a:p>
            <a:r>
              <a:rPr lang="en-IN" sz="2000" dirty="0">
                <a:latin typeface="Bahnschrift" panose="020B0502040204020203" pitchFamily="34" charset="0"/>
              </a:rPr>
              <a:t>ChatGPT / Copilot → Helps generate answers, code, or test cases.</a:t>
            </a:r>
          </a:p>
          <a:p>
            <a:r>
              <a:rPr lang="en-IN" sz="2000" dirty="0">
                <a:latin typeface="Bahnschrift" panose="020B0502040204020203" pitchFamily="34" charset="0"/>
              </a:rPr>
              <a:t>Selenium + AI Agent → Could decide which test cases to run automatically.</a:t>
            </a:r>
          </a:p>
          <a:p>
            <a:r>
              <a:rPr lang="en-IN" sz="2000" dirty="0">
                <a:latin typeface="Bahnschrift" panose="020B0502040204020203" pitchFamily="34" charset="0"/>
              </a:rPr>
              <a:t>Personal Assistant AI (Alexa, Siri, Google Assistant) → Handles reminders, searches, smart home devices.</a:t>
            </a:r>
          </a:p>
          <a:p>
            <a:r>
              <a:rPr lang="en-IN" sz="2000" dirty="0">
                <a:latin typeface="Bahnschrift" panose="020B0502040204020203" pitchFamily="34" charset="0"/>
              </a:rPr>
              <a:t>Game AI → NPCs (non-player characters) that adapt to player strategies.</a:t>
            </a:r>
          </a:p>
          <a:p>
            <a:r>
              <a:rPr lang="en-IN" sz="2000" dirty="0">
                <a:latin typeface="Bahnschrift" panose="020B0502040204020203" pitchFamily="34" charset="0"/>
              </a:rPr>
              <a:t>Robotics AI Agent → A robot vacuum that maps and cleans your house.</a:t>
            </a:r>
          </a:p>
          <a:p>
            <a:endParaRPr lang="en-IN" dirty="0"/>
          </a:p>
        </p:txBody>
      </p:sp>
    </p:spTree>
    <p:extLst>
      <p:ext uri="{BB962C8B-B14F-4D97-AF65-F5344CB8AC3E}">
        <p14:creationId xmlns:p14="http://schemas.microsoft.com/office/powerpoint/2010/main" val="2896291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523C-E4EA-CF60-953B-6DD6E05CDF6D}"/>
              </a:ext>
            </a:extLst>
          </p:cNvPr>
          <p:cNvSpPr>
            <a:spLocks noGrp="1"/>
          </p:cNvSpPr>
          <p:nvPr>
            <p:ph type="title"/>
          </p:nvPr>
        </p:nvSpPr>
        <p:spPr/>
        <p:txBody>
          <a:bodyPr/>
          <a:lstStyle/>
          <a:p>
            <a:r>
              <a:rPr lang="en-IN" dirty="0">
                <a:latin typeface="Arial Black" panose="020B0A04020102020204" pitchFamily="34" charset="0"/>
              </a:rPr>
              <a:t>Ai power tool </a:t>
            </a:r>
            <a:r>
              <a:rPr lang="en-IN" dirty="0" err="1">
                <a:latin typeface="Arial Black" panose="020B0A04020102020204" pitchFamily="34" charset="0"/>
              </a:rPr>
              <a:t>TestRigor</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86E87F6-5161-A3B6-1872-A666B536B01A}"/>
              </a:ext>
            </a:extLst>
          </p:cNvPr>
          <p:cNvSpPr>
            <a:spLocks noGrp="1"/>
          </p:cNvSpPr>
          <p:nvPr>
            <p:ph idx="1"/>
          </p:nvPr>
        </p:nvSpPr>
        <p:spPr/>
        <p:txBody>
          <a:bodyPr/>
          <a:lstStyle/>
          <a:p>
            <a:r>
              <a:rPr lang="en-US" sz="2000" dirty="0" err="1">
                <a:latin typeface="Bahnschrift" panose="020B0502040204020203" pitchFamily="34" charset="0"/>
              </a:rPr>
              <a:t>testRigor</a:t>
            </a:r>
            <a:r>
              <a:rPr lang="en-US" sz="2000" dirty="0">
                <a:latin typeface="Bahnschrift" panose="020B0502040204020203" pitchFamily="34" charset="0"/>
              </a:rPr>
              <a:t> is an AI-powered, no-code test automation platform designed to streamline the process of creating and maintaining end-to-end tests for web, mobile, desktop, and API applications. </a:t>
            </a:r>
          </a:p>
          <a:p>
            <a:r>
              <a:rPr lang="en-US" sz="2000" dirty="0">
                <a:latin typeface="Bahnschrift" panose="020B0502040204020203" pitchFamily="34" charset="0"/>
              </a:rPr>
              <a:t>Unlike traditional tools that require coding expertise, </a:t>
            </a:r>
            <a:r>
              <a:rPr lang="en-US" sz="2000" dirty="0" err="1">
                <a:latin typeface="Bahnschrift" panose="020B0502040204020203" pitchFamily="34" charset="0"/>
              </a:rPr>
              <a:t>testRigor</a:t>
            </a:r>
            <a:r>
              <a:rPr lang="en-US" sz="2000" dirty="0">
                <a:latin typeface="Bahnschrift" panose="020B0502040204020203" pitchFamily="34" charset="0"/>
              </a:rPr>
              <a:t> enables teams to write tests using natural language, making automation accessible to both technical and non-technical users.</a:t>
            </a:r>
          </a:p>
          <a:p>
            <a:endParaRPr lang="en-US" sz="2000" dirty="0">
              <a:latin typeface="Bahnschrift" panose="020B0502040204020203" pitchFamily="34" charset="0"/>
            </a:endParaRPr>
          </a:p>
          <a:p>
            <a:r>
              <a:rPr lang="en-IN" sz="2000" dirty="0">
                <a:latin typeface="Bahnschrift" panose="020B0502040204020203" pitchFamily="34" charset="0"/>
                <a:hlinkClick r:id="rId2"/>
              </a:rPr>
              <a:t>https://testrigor.com/</a:t>
            </a:r>
            <a:endParaRPr lang="en-IN" sz="2000" dirty="0">
              <a:latin typeface="Bahnschrift" panose="020B0502040204020203" pitchFamily="34" charset="0"/>
            </a:endParaRPr>
          </a:p>
          <a:p>
            <a:endParaRPr lang="en-IN" sz="2000" dirty="0">
              <a:latin typeface="Bahnschrift" panose="020B0502040204020203" pitchFamily="34" charset="0"/>
            </a:endParaRPr>
          </a:p>
        </p:txBody>
      </p:sp>
    </p:spTree>
    <p:extLst>
      <p:ext uri="{BB962C8B-B14F-4D97-AF65-F5344CB8AC3E}">
        <p14:creationId xmlns:p14="http://schemas.microsoft.com/office/powerpoint/2010/main" val="3682355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C659-7E7B-2134-CFE1-CCBCAA9EA2FA}"/>
              </a:ext>
            </a:extLst>
          </p:cNvPr>
          <p:cNvSpPr>
            <a:spLocks noGrp="1"/>
          </p:cNvSpPr>
          <p:nvPr>
            <p:ph type="title"/>
          </p:nvPr>
        </p:nvSpPr>
        <p:spPr>
          <a:xfrm>
            <a:off x="2895600" y="282592"/>
            <a:ext cx="8610600" cy="1293028"/>
          </a:xfrm>
        </p:spPr>
        <p:txBody>
          <a:bodyPr/>
          <a:lstStyle/>
          <a:p>
            <a:r>
              <a:rPr lang="en-IN" dirty="0">
                <a:latin typeface="Arial Black" panose="020B0A04020102020204" pitchFamily="34" charset="0"/>
              </a:rPr>
              <a:t>GitHub copilot</a:t>
            </a:r>
          </a:p>
        </p:txBody>
      </p:sp>
      <p:sp>
        <p:nvSpPr>
          <p:cNvPr id="3" name="Content Placeholder 2">
            <a:extLst>
              <a:ext uri="{FF2B5EF4-FFF2-40B4-BE49-F238E27FC236}">
                <a16:creationId xmlns:a16="http://schemas.microsoft.com/office/drawing/2014/main" id="{C9C008F5-32A8-47C4-32D2-805AE15F5209}"/>
              </a:ext>
            </a:extLst>
          </p:cNvPr>
          <p:cNvSpPr>
            <a:spLocks noGrp="1"/>
          </p:cNvSpPr>
          <p:nvPr>
            <p:ph idx="1"/>
          </p:nvPr>
        </p:nvSpPr>
        <p:spPr>
          <a:xfrm>
            <a:off x="685800" y="1327354"/>
            <a:ext cx="10820400" cy="5248053"/>
          </a:xfrm>
        </p:spPr>
        <p:txBody>
          <a:bodyPr>
            <a:normAutofit lnSpcReduction="10000"/>
          </a:bodyPr>
          <a:lstStyle/>
          <a:p>
            <a:pPr>
              <a:lnSpc>
                <a:spcPct val="100000"/>
              </a:lnSpc>
            </a:pPr>
            <a:r>
              <a:rPr lang="en-US" dirty="0" err="1">
                <a:latin typeface="Bahnschrift" panose="020B0502040204020203" pitchFamily="34" charset="0"/>
              </a:rPr>
              <a:t>Github</a:t>
            </a:r>
            <a:r>
              <a:rPr lang="en-US" dirty="0">
                <a:latin typeface="Bahnschrift" panose="020B0502040204020203" pitchFamily="34" charset="0"/>
              </a:rPr>
              <a:t> Copilot is your AI-powered companion created by Microsoft to help you think, create, and get things done more efficiently—whether you're working, studying, or just exploring ideas. </a:t>
            </a:r>
          </a:p>
          <a:p>
            <a:pPr>
              <a:lnSpc>
                <a:spcPct val="100000"/>
              </a:lnSpc>
            </a:pPr>
            <a:r>
              <a:rPr lang="en-US" dirty="0">
                <a:latin typeface="Bahnschrift" panose="020B0502040204020203" pitchFamily="34" charset="0"/>
              </a:rPr>
              <a:t>It’s available across platforms like Windows, macOS, iOS, Android, and the web, and it’s deeply integrated into Microsoft apps like Word, Excel, PowerPoint, and Teams.</a:t>
            </a:r>
          </a:p>
          <a:p>
            <a:pPr>
              <a:lnSpc>
                <a:spcPct val="100000"/>
              </a:lnSpc>
            </a:pPr>
            <a:r>
              <a:rPr lang="en-US" dirty="0">
                <a:latin typeface="Bahnschrift" panose="020B0502040204020203" pitchFamily="34" charset="0"/>
              </a:rPr>
              <a:t>It can complete functions, suggest whole code blocks, and even generate new code based on comments. </a:t>
            </a:r>
          </a:p>
          <a:p>
            <a:pPr>
              <a:lnSpc>
                <a:spcPct val="100000"/>
              </a:lnSpc>
            </a:pPr>
            <a:r>
              <a:rPr lang="en-US" dirty="0">
                <a:latin typeface="Bahnschrift" panose="020B0502040204020203" pitchFamily="34" charset="0"/>
              </a:rPr>
              <a:t>GitHub Copilot = Your AI pair programmer that helps you generate, complete, and improve code quickly.</a:t>
            </a:r>
          </a:p>
          <a:p>
            <a:pPr>
              <a:lnSpc>
                <a:spcPct val="100000"/>
              </a:lnSpc>
            </a:pPr>
            <a:r>
              <a:rPr lang="en-US" b="1" dirty="0">
                <a:latin typeface="Bahnschrift" panose="020B0502040204020203" pitchFamily="34" charset="0"/>
              </a:rPr>
              <a:t>Where You Can Use GitHub Copilot</a:t>
            </a:r>
          </a:p>
          <a:p>
            <a:pPr>
              <a:lnSpc>
                <a:spcPct val="100000"/>
              </a:lnSpc>
            </a:pPr>
            <a:r>
              <a:rPr lang="en-US" dirty="0">
                <a:latin typeface="Bahnschrift" panose="020B0502040204020203" pitchFamily="34" charset="0"/>
              </a:rPr>
              <a:t>VS Code (most common)</a:t>
            </a:r>
          </a:p>
          <a:p>
            <a:pPr>
              <a:lnSpc>
                <a:spcPct val="100000"/>
              </a:lnSpc>
            </a:pPr>
            <a:r>
              <a:rPr lang="en-US" dirty="0">
                <a:latin typeface="Bahnschrift" panose="020B0502040204020203" pitchFamily="34" charset="0"/>
              </a:rPr>
              <a:t>IntelliJ / PyCharm / WebStorm</a:t>
            </a:r>
          </a:p>
          <a:p>
            <a:pPr>
              <a:lnSpc>
                <a:spcPct val="100000"/>
              </a:lnSpc>
            </a:pPr>
            <a:r>
              <a:rPr lang="en-US" dirty="0">
                <a:latin typeface="Bahnschrift" panose="020B0502040204020203" pitchFamily="34" charset="0"/>
              </a:rPr>
              <a:t>GitHub.com directly in the browser editor</a:t>
            </a:r>
          </a:p>
          <a:p>
            <a:endParaRPr lang="en-IN" dirty="0"/>
          </a:p>
        </p:txBody>
      </p:sp>
    </p:spTree>
    <p:extLst>
      <p:ext uri="{BB962C8B-B14F-4D97-AF65-F5344CB8AC3E}">
        <p14:creationId xmlns:p14="http://schemas.microsoft.com/office/powerpoint/2010/main" val="3626157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C1DE-35F3-3FFB-6412-119EB4067D56}"/>
              </a:ext>
            </a:extLst>
          </p:cNvPr>
          <p:cNvSpPr>
            <a:spLocks noGrp="1"/>
          </p:cNvSpPr>
          <p:nvPr>
            <p:ph type="title"/>
          </p:nvPr>
        </p:nvSpPr>
        <p:spPr>
          <a:xfrm>
            <a:off x="2895600" y="388288"/>
            <a:ext cx="8610600" cy="1293028"/>
          </a:xfrm>
        </p:spPr>
        <p:txBody>
          <a:bodyPr/>
          <a:lstStyle/>
          <a:p>
            <a:r>
              <a:rPr lang="en-IN" dirty="0">
                <a:latin typeface="Arial Black" panose="020B0A04020102020204" pitchFamily="34" charset="0"/>
              </a:rPr>
              <a:t>advantages</a:t>
            </a:r>
          </a:p>
        </p:txBody>
      </p:sp>
      <p:sp>
        <p:nvSpPr>
          <p:cNvPr id="3" name="Content Placeholder 2">
            <a:extLst>
              <a:ext uri="{FF2B5EF4-FFF2-40B4-BE49-F238E27FC236}">
                <a16:creationId xmlns:a16="http://schemas.microsoft.com/office/drawing/2014/main" id="{AC3A004C-5107-B8CA-8D65-907008F6B21E}"/>
              </a:ext>
            </a:extLst>
          </p:cNvPr>
          <p:cNvSpPr>
            <a:spLocks noGrp="1"/>
          </p:cNvSpPr>
          <p:nvPr>
            <p:ph idx="1"/>
          </p:nvPr>
        </p:nvSpPr>
        <p:spPr>
          <a:xfrm>
            <a:off x="685800" y="1681316"/>
            <a:ext cx="10820400" cy="4537369"/>
          </a:xfrm>
        </p:spPr>
        <p:txBody>
          <a:bodyPr/>
          <a:lstStyle/>
          <a:p>
            <a:pPr>
              <a:lnSpc>
                <a:spcPct val="100000"/>
              </a:lnSpc>
            </a:pPr>
            <a:r>
              <a:rPr lang="en-US" dirty="0"/>
              <a:t>● </a:t>
            </a:r>
            <a:r>
              <a:rPr lang="en-US" dirty="0">
                <a:latin typeface="Bahnschrift" panose="020B0502040204020203" pitchFamily="34" charset="0"/>
              </a:rPr>
              <a:t>Saves Time: Quickly suggests code, reducing typing work.</a:t>
            </a:r>
          </a:p>
          <a:p>
            <a:pPr>
              <a:lnSpc>
                <a:spcPct val="100000"/>
              </a:lnSpc>
            </a:pPr>
            <a:r>
              <a:rPr lang="en-US" dirty="0">
                <a:latin typeface="Bahnschrift" panose="020B0502040204020203" pitchFamily="34" charset="0"/>
              </a:rPr>
              <a:t>● Boosts Productivity: Helps you focus on logic instead of syntax. </a:t>
            </a:r>
          </a:p>
          <a:p>
            <a:pPr>
              <a:lnSpc>
                <a:spcPct val="100000"/>
              </a:lnSpc>
            </a:pPr>
            <a:r>
              <a:rPr lang="en-US" dirty="0">
                <a:latin typeface="Bahnschrift" panose="020B0502040204020203" pitchFamily="34" charset="0"/>
              </a:rPr>
              <a:t>● Works in Real-Time: Gives suggestions directly inside your editor.</a:t>
            </a:r>
          </a:p>
          <a:p>
            <a:pPr>
              <a:lnSpc>
                <a:spcPct val="100000"/>
              </a:lnSpc>
            </a:pPr>
            <a:r>
              <a:rPr lang="en-US" dirty="0">
                <a:latin typeface="Bahnschrift" panose="020B0502040204020203" pitchFamily="34" charset="0"/>
              </a:rPr>
              <a:t>● Supports Multiple Languages: Works with Python, Java, JavaScript, C#, etc. </a:t>
            </a:r>
          </a:p>
          <a:p>
            <a:pPr>
              <a:lnSpc>
                <a:spcPct val="100000"/>
              </a:lnSpc>
            </a:pPr>
            <a:r>
              <a:rPr lang="en-US" dirty="0">
                <a:latin typeface="Bahnschrift" panose="020B0502040204020203" pitchFamily="34" charset="0"/>
              </a:rPr>
              <a:t>● Helpful for Beginners: Shows example code directly, so learners can understand faster. </a:t>
            </a:r>
          </a:p>
          <a:p>
            <a:pPr>
              <a:lnSpc>
                <a:spcPct val="100000"/>
              </a:lnSpc>
            </a:pPr>
            <a:r>
              <a:rPr lang="en-US" dirty="0">
                <a:latin typeface="Bahnschrift" panose="020B0502040204020203" pitchFamily="34" charset="0"/>
              </a:rPr>
              <a:t>● Can Learn From Comments: Write a comment, and Copilot generates the code for it. </a:t>
            </a:r>
            <a:endParaRPr lang="en-IN" dirty="0">
              <a:latin typeface="Bahnschrift" panose="020B0502040204020203" pitchFamily="34" charset="0"/>
            </a:endParaRPr>
          </a:p>
        </p:txBody>
      </p:sp>
    </p:spTree>
    <p:extLst>
      <p:ext uri="{BB962C8B-B14F-4D97-AF65-F5344CB8AC3E}">
        <p14:creationId xmlns:p14="http://schemas.microsoft.com/office/powerpoint/2010/main" val="3605539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C358-43AC-EB44-0FE8-427FC9910446}"/>
              </a:ext>
            </a:extLst>
          </p:cNvPr>
          <p:cNvSpPr>
            <a:spLocks noGrp="1"/>
          </p:cNvSpPr>
          <p:nvPr>
            <p:ph type="title"/>
          </p:nvPr>
        </p:nvSpPr>
        <p:spPr/>
        <p:txBody>
          <a:bodyPr/>
          <a:lstStyle/>
          <a:p>
            <a:r>
              <a:rPr lang="en-IN" dirty="0">
                <a:latin typeface="Arial Black" panose="020B0A04020102020204" pitchFamily="34" charset="0"/>
              </a:rPr>
              <a:t>Copilot setup in vs code</a:t>
            </a:r>
          </a:p>
        </p:txBody>
      </p:sp>
      <p:sp>
        <p:nvSpPr>
          <p:cNvPr id="3" name="Content Placeholder 2">
            <a:extLst>
              <a:ext uri="{FF2B5EF4-FFF2-40B4-BE49-F238E27FC236}">
                <a16:creationId xmlns:a16="http://schemas.microsoft.com/office/drawing/2014/main" id="{D9A2A21B-3C03-5962-AA32-423D3B03854F}"/>
              </a:ext>
            </a:extLst>
          </p:cNvPr>
          <p:cNvSpPr>
            <a:spLocks noGrp="1"/>
          </p:cNvSpPr>
          <p:nvPr>
            <p:ph idx="1"/>
          </p:nvPr>
        </p:nvSpPr>
        <p:spPr>
          <a:xfrm>
            <a:off x="685800" y="2057402"/>
            <a:ext cx="10820400" cy="4161284"/>
          </a:xfrm>
        </p:spPr>
        <p:txBody>
          <a:bodyPr/>
          <a:lstStyle/>
          <a:p>
            <a:pPr lvl="0">
              <a:lnSpc>
                <a:spcPct val="100000"/>
              </a:lnSpc>
            </a:pPr>
            <a:r>
              <a:rPr lang="en-IN" dirty="0">
                <a:latin typeface="Bahnschrift" panose="020B0502040204020203" pitchFamily="34" charset="0"/>
              </a:rPr>
              <a:t>Download &amp; install Visual Studio Code.</a:t>
            </a:r>
          </a:p>
          <a:p>
            <a:pPr lvl="0">
              <a:lnSpc>
                <a:spcPct val="100000"/>
              </a:lnSpc>
            </a:pPr>
            <a:r>
              <a:rPr lang="en-IN" dirty="0">
                <a:latin typeface="Bahnschrift" panose="020B0502040204020203" pitchFamily="34" charset="0"/>
              </a:rPr>
              <a:t>Install Extensions:</a:t>
            </a:r>
          </a:p>
          <a:p>
            <a:pPr marL="228600" lvl="1">
              <a:lnSpc>
                <a:spcPct val="100000"/>
              </a:lnSpc>
              <a:spcBef>
                <a:spcPts val="1000"/>
              </a:spcBef>
            </a:pPr>
            <a:r>
              <a:rPr lang="en-IN" sz="2200" dirty="0">
                <a:latin typeface="Bahnschrift" panose="020B0502040204020203" pitchFamily="34" charset="0"/>
              </a:rPr>
              <a:t>Java Extension Pack (for Java projects).</a:t>
            </a:r>
          </a:p>
          <a:p>
            <a:pPr marL="228600" lvl="1">
              <a:lnSpc>
                <a:spcPct val="100000"/>
              </a:lnSpc>
              <a:spcBef>
                <a:spcPts val="1000"/>
              </a:spcBef>
            </a:pPr>
            <a:r>
              <a:rPr lang="en-IN" sz="2200" dirty="0">
                <a:latin typeface="Bahnschrift" panose="020B0502040204020203" pitchFamily="34" charset="0"/>
              </a:rPr>
              <a:t>Maven for Java (if you’re using Maven).</a:t>
            </a:r>
          </a:p>
          <a:p>
            <a:pPr marL="228600" lvl="1">
              <a:lnSpc>
                <a:spcPct val="100000"/>
              </a:lnSpc>
              <a:spcBef>
                <a:spcPts val="1000"/>
              </a:spcBef>
            </a:pPr>
            <a:r>
              <a:rPr lang="en-IN" sz="2200" dirty="0">
                <a:latin typeface="Bahnschrift" panose="020B0502040204020203" pitchFamily="34" charset="0"/>
              </a:rPr>
              <a:t>GitHub Copilot (from Marketplace).</a:t>
            </a:r>
          </a:p>
          <a:p>
            <a:pPr marL="228600" lvl="1">
              <a:lnSpc>
                <a:spcPct val="100000"/>
              </a:lnSpc>
              <a:spcBef>
                <a:spcPts val="1000"/>
              </a:spcBef>
            </a:pPr>
            <a:r>
              <a:rPr lang="en-IN" sz="2200" dirty="0">
                <a:latin typeface="Bahnschrift" panose="020B0502040204020203" pitchFamily="34" charset="0"/>
              </a:rPr>
              <a:t>GitHub Copilot Chat (optional, for asking Copilot questions).</a:t>
            </a:r>
          </a:p>
          <a:p>
            <a:pPr>
              <a:lnSpc>
                <a:spcPct val="100000"/>
              </a:lnSpc>
            </a:pPr>
            <a:r>
              <a:rPr lang="en-IN" dirty="0">
                <a:latin typeface="Bahnschrift" panose="020B0502040204020203" pitchFamily="34" charset="0"/>
              </a:rPr>
              <a:t>Login to GitHub account inside VS Code → enable Copilot.</a:t>
            </a:r>
          </a:p>
        </p:txBody>
      </p:sp>
    </p:spTree>
    <p:extLst>
      <p:ext uri="{BB962C8B-B14F-4D97-AF65-F5344CB8AC3E}">
        <p14:creationId xmlns:p14="http://schemas.microsoft.com/office/powerpoint/2010/main" val="1467098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1139-6F2A-7236-5921-D464A93C82BB}"/>
              </a:ext>
            </a:extLst>
          </p:cNvPr>
          <p:cNvSpPr>
            <a:spLocks noGrp="1"/>
          </p:cNvSpPr>
          <p:nvPr>
            <p:ph type="title"/>
          </p:nvPr>
        </p:nvSpPr>
        <p:spPr>
          <a:xfrm>
            <a:off x="3151239" y="390747"/>
            <a:ext cx="8610600" cy="1293028"/>
          </a:xfrm>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678A7DC-DD7C-49B8-104F-B39309B7A182}"/>
              </a:ext>
            </a:extLst>
          </p:cNvPr>
          <p:cNvSpPr>
            <a:spLocks noGrp="1"/>
          </p:cNvSpPr>
          <p:nvPr>
            <p:ph idx="1"/>
          </p:nvPr>
        </p:nvSpPr>
        <p:spPr>
          <a:xfrm>
            <a:off x="685800" y="1683776"/>
            <a:ext cx="10820400" cy="4534910"/>
          </a:xfrm>
        </p:spPr>
        <p:txBody>
          <a:bodyPr>
            <a:normAutofit lnSpcReduction="10000"/>
          </a:bodyPr>
          <a:lstStyle/>
          <a:p>
            <a:pPr algn="just"/>
            <a:r>
              <a:rPr lang="en-US" dirty="0">
                <a:latin typeface="Bahnschrift" panose="020B0502040204020203" pitchFamily="34" charset="0"/>
              </a:rPr>
              <a:t>MCP is an open protocol that designed to allow large language models(LLMs) to interact with software tools-like browsers using structured machine-readable data.</a:t>
            </a:r>
          </a:p>
          <a:p>
            <a:pPr algn="just"/>
            <a:r>
              <a:rPr lang="en-US" dirty="0">
                <a:latin typeface="Bahnschrift" panose="020B0502040204020203" pitchFamily="34" charset="0"/>
              </a:rPr>
              <a:t>MCP provides a standardized way to connect AI models to different data sources and tools. </a:t>
            </a:r>
          </a:p>
          <a:p>
            <a:pPr algn="just"/>
            <a:r>
              <a:rPr lang="en-US" dirty="0">
                <a:latin typeface="Bahnschrift" panose="020B0502040204020203" pitchFamily="34" charset="0"/>
              </a:rPr>
              <a:t>MCP enables you to build agents and complex workflows on top of LLMs and connects your models with the world.</a:t>
            </a:r>
          </a:p>
          <a:p>
            <a:pPr algn="just"/>
            <a:r>
              <a:rPr lang="en-US" b="1" dirty="0">
                <a:latin typeface="Bahnschrift" panose="020B0502040204020203" pitchFamily="34" charset="0"/>
              </a:rPr>
              <a:t>MCP provides:</a:t>
            </a:r>
          </a:p>
          <a:p>
            <a:pPr algn="just"/>
            <a:r>
              <a:rPr lang="en-US" dirty="0">
                <a:latin typeface="Bahnschrift" panose="020B0502040204020203" pitchFamily="34" charset="0"/>
              </a:rPr>
              <a:t>A growing list of pre-built integrations that your LLM can directly plug into</a:t>
            </a:r>
          </a:p>
          <a:p>
            <a:pPr algn="just"/>
            <a:r>
              <a:rPr lang="en-US" dirty="0">
                <a:latin typeface="Bahnschrift" panose="020B0502040204020203" pitchFamily="34" charset="0"/>
              </a:rPr>
              <a:t>A standardized way to build custom integrations for AI applications</a:t>
            </a:r>
          </a:p>
          <a:p>
            <a:pPr algn="just"/>
            <a:r>
              <a:rPr lang="en-US" dirty="0">
                <a:latin typeface="Bahnschrift" panose="020B0502040204020203" pitchFamily="34" charset="0"/>
              </a:rPr>
              <a:t>An open protocol that everyone is free to implement and use</a:t>
            </a:r>
          </a:p>
          <a:p>
            <a:pPr algn="just"/>
            <a:r>
              <a:rPr lang="en-US" dirty="0">
                <a:latin typeface="Bahnschrift" panose="020B0502040204020203" pitchFamily="34" charset="0"/>
              </a:rPr>
              <a:t>The flexibility to change between different apps and take your context with you</a:t>
            </a:r>
          </a:p>
          <a:p>
            <a:pPr algn="just"/>
            <a:endParaRPr lang="en-IN" dirty="0"/>
          </a:p>
        </p:txBody>
      </p:sp>
    </p:spTree>
    <p:extLst>
      <p:ext uri="{BB962C8B-B14F-4D97-AF65-F5344CB8AC3E}">
        <p14:creationId xmlns:p14="http://schemas.microsoft.com/office/powerpoint/2010/main" val="795155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7D2B-40BB-C30F-9F3B-83DFF75419DA}"/>
              </a:ext>
            </a:extLst>
          </p:cNvPr>
          <p:cNvSpPr>
            <a:spLocks noGrp="1"/>
          </p:cNvSpPr>
          <p:nvPr>
            <p:ph type="title"/>
          </p:nvPr>
        </p:nvSpPr>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B16BE3D-1751-7451-3683-9A5C51C290F1}"/>
              </a:ext>
            </a:extLst>
          </p:cNvPr>
          <p:cNvSpPr>
            <a:spLocks noGrp="1"/>
          </p:cNvSpPr>
          <p:nvPr>
            <p:ph idx="1"/>
          </p:nvPr>
        </p:nvSpPr>
        <p:spPr>
          <a:xfrm>
            <a:off x="685800" y="2057402"/>
            <a:ext cx="10820400" cy="4161284"/>
          </a:xfrm>
        </p:spPr>
        <p:txBody>
          <a:bodyPr>
            <a:normAutofit fontScale="85000" lnSpcReduction="20000"/>
          </a:bodyPr>
          <a:lstStyle/>
          <a:p>
            <a:pPr algn="just">
              <a:lnSpc>
                <a:spcPct val="100000"/>
              </a:lnSpc>
            </a:pPr>
            <a:r>
              <a:rPr lang="en-US" sz="2400" dirty="0">
                <a:latin typeface="Bahnschrift" panose="020B0502040204020203" pitchFamily="34" charset="0"/>
              </a:rPr>
              <a:t>The Model Context Protocol (MCP) framework incorporates various components that interact with each other and leverage existing network protocols such as TCP, NFS, and HTTPS.</a:t>
            </a:r>
          </a:p>
          <a:p>
            <a:pPr algn="just">
              <a:lnSpc>
                <a:spcPct val="100000"/>
              </a:lnSpc>
            </a:pPr>
            <a:r>
              <a:rPr lang="en-US" sz="2400" dirty="0">
                <a:latin typeface="Bahnschrift" panose="020B0502040204020203" pitchFamily="34" charset="0"/>
              </a:rPr>
              <a:t>MCP Host, Client, and Server</a:t>
            </a:r>
          </a:p>
          <a:p>
            <a:pPr algn="just">
              <a:lnSpc>
                <a:spcPct val="100000"/>
              </a:lnSpc>
            </a:pPr>
            <a:r>
              <a:rPr lang="en-US" sz="2400" b="1" dirty="0">
                <a:latin typeface="Bahnschrift" panose="020B0502040204020203" pitchFamily="34" charset="0"/>
              </a:rPr>
              <a:t>MCP Host: </a:t>
            </a:r>
            <a:r>
              <a:rPr lang="en-US" sz="2400" dirty="0">
                <a:latin typeface="Bahnschrift" panose="020B0502040204020203" pitchFamily="34" charset="0"/>
              </a:rPr>
              <a:t>The MCP host typically refers to the environment or platform where MCP is deployed and operates. The host is responsible for facilitating the interaction between MCP clients and MCP servers.</a:t>
            </a:r>
          </a:p>
          <a:p>
            <a:pPr algn="just">
              <a:lnSpc>
                <a:spcPct val="100000"/>
              </a:lnSpc>
            </a:pPr>
            <a:r>
              <a:rPr lang="en-US" sz="2400" b="1" dirty="0">
                <a:latin typeface="Bahnschrift" panose="020B0502040204020203" pitchFamily="34" charset="0"/>
              </a:rPr>
              <a:t>MCP Client: </a:t>
            </a:r>
            <a:r>
              <a:rPr lang="en-US" sz="2400" dirty="0">
                <a:latin typeface="Bahnschrift" panose="020B0502040204020203" pitchFamily="34" charset="0"/>
              </a:rPr>
              <a:t>An MCP client is an entity, such as an application or agent, that utilizes the capabilities exposed by MCP servers. MCP clients request to perform specific actions or gather data by invoking APIs hosted on MCP servers.</a:t>
            </a:r>
          </a:p>
          <a:p>
            <a:pPr algn="just">
              <a:lnSpc>
                <a:spcPct val="100000"/>
              </a:lnSpc>
            </a:pPr>
            <a:r>
              <a:rPr lang="en-US" sz="2400" b="1" dirty="0">
                <a:latin typeface="Bahnschrift" panose="020B0502040204020203" pitchFamily="34" charset="0"/>
              </a:rPr>
              <a:t>MCP Server: </a:t>
            </a:r>
            <a:r>
              <a:rPr lang="en-US" sz="2400" dirty="0">
                <a:latin typeface="Bahnschrift" panose="020B0502040204020203" pitchFamily="34" charset="0"/>
              </a:rPr>
              <a:t>MCP servers host the APIs that expose their capabilities in a configuration that MCP clients can discover and invoke. These servers provide a standardized interface for clients to interact with various services or perform actions.</a:t>
            </a:r>
          </a:p>
          <a:p>
            <a:pPr algn="just"/>
            <a:endParaRPr lang="en-IN" dirty="0"/>
          </a:p>
        </p:txBody>
      </p:sp>
    </p:spTree>
    <p:extLst>
      <p:ext uri="{BB962C8B-B14F-4D97-AF65-F5344CB8AC3E}">
        <p14:creationId xmlns:p14="http://schemas.microsoft.com/office/powerpoint/2010/main" val="3302063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EBA5-482F-7713-E3B9-5350E7993FFB}"/>
              </a:ext>
            </a:extLst>
          </p:cNvPr>
          <p:cNvSpPr>
            <a:spLocks noGrp="1"/>
          </p:cNvSpPr>
          <p:nvPr>
            <p:ph type="title"/>
          </p:nvPr>
        </p:nvSpPr>
        <p:spPr>
          <a:xfrm>
            <a:off x="3043084" y="366238"/>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B42C55D9-AAE4-1C0C-670C-C67774864787}"/>
              </a:ext>
            </a:extLst>
          </p:cNvPr>
          <p:cNvSpPr>
            <a:spLocks noGrp="1"/>
          </p:cNvSpPr>
          <p:nvPr>
            <p:ph idx="1"/>
          </p:nvPr>
        </p:nvSpPr>
        <p:spPr>
          <a:xfrm>
            <a:off x="685800" y="1573162"/>
            <a:ext cx="10820400" cy="4645524"/>
          </a:xfrm>
        </p:spPr>
        <p:txBody>
          <a:bodyPr/>
          <a:lstStyle/>
          <a:p>
            <a:pPr>
              <a:lnSpc>
                <a:spcPct val="80000"/>
              </a:lnSpc>
            </a:pPr>
            <a:r>
              <a:rPr lang="en-US" sz="2000" dirty="0">
                <a:latin typeface="Bahnschrift" panose="020B0502040204020203" pitchFamily="34" charset="0"/>
              </a:rPr>
              <a:t>MCP does not directly connect LLMs with tools.</a:t>
            </a:r>
          </a:p>
          <a:p>
            <a:pPr>
              <a:lnSpc>
                <a:spcPct val="80000"/>
              </a:lnSpc>
            </a:pPr>
            <a:r>
              <a:rPr lang="en-US" sz="2000" dirty="0">
                <a:latin typeface="Bahnschrift" panose="020B0502040204020203" pitchFamily="34" charset="0"/>
              </a:rPr>
              <a:t> The MCP client component accesses the LLM, and the MCP server component accesses the tools. </a:t>
            </a:r>
          </a:p>
          <a:p>
            <a:pPr>
              <a:lnSpc>
                <a:spcPct val="80000"/>
              </a:lnSpc>
            </a:pPr>
            <a:r>
              <a:rPr lang="en-US" sz="2000" dirty="0">
                <a:latin typeface="Bahnschrift" panose="020B0502040204020203" pitchFamily="34" charset="0"/>
              </a:rPr>
              <a:t>One MCP client has access to one or more MCP servers. Users may connect any number of MCP servers to an MCP client.</a:t>
            </a:r>
          </a:p>
          <a:p>
            <a:endParaRPr lang="en-IN" dirty="0"/>
          </a:p>
        </p:txBody>
      </p:sp>
      <p:pic>
        <p:nvPicPr>
          <p:cNvPr id="5" name="Picture 4">
            <a:extLst>
              <a:ext uri="{FF2B5EF4-FFF2-40B4-BE49-F238E27FC236}">
                <a16:creationId xmlns:a16="http://schemas.microsoft.com/office/drawing/2014/main" id="{6ABE97AD-B0C2-3997-0DF7-A14F0E12D188}"/>
              </a:ext>
            </a:extLst>
          </p:cNvPr>
          <p:cNvPicPr>
            <a:picLocks noChangeAspect="1"/>
          </p:cNvPicPr>
          <p:nvPr/>
        </p:nvPicPr>
        <p:blipFill>
          <a:blip r:embed="rId2"/>
          <a:stretch>
            <a:fillRect/>
          </a:stretch>
        </p:blipFill>
        <p:spPr>
          <a:xfrm>
            <a:off x="1937465" y="3291349"/>
            <a:ext cx="8100762" cy="3324979"/>
          </a:xfrm>
          <a:prstGeom prst="rect">
            <a:avLst/>
          </a:prstGeom>
        </p:spPr>
      </p:pic>
    </p:spTree>
    <p:extLst>
      <p:ext uri="{BB962C8B-B14F-4D97-AF65-F5344CB8AC3E}">
        <p14:creationId xmlns:p14="http://schemas.microsoft.com/office/powerpoint/2010/main" val="2582392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B8BC2-B079-BEC3-72C8-0782DF1768A6}"/>
              </a:ext>
            </a:extLst>
          </p:cNvPr>
          <p:cNvPicPr>
            <a:picLocks noGrp="1" noChangeAspect="1"/>
          </p:cNvPicPr>
          <p:nvPr>
            <p:ph idx="1"/>
          </p:nvPr>
        </p:nvPicPr>
        <p:blipFill>
          <a:blip r:embed="rId2"/>
          <a:stretch>
            <a:fillRect/>
          </a:stretch>
        </p:blipFill>
        <p:spPr>
          <a:xfrm>
            <a:off x="1125794" y="934065"/>
            <a:ext cx="9940412" cy="5535561"/>
          </a:xfrm>
          <a:prstGeom prst="rect">
            <a:avLst/>
          </a:prstGeom>
        </p:spPr>
      </p:pic>
    </p:spTree>
    <p:extLst>
      <p:ext uri="{BB962C8B-B14F-4D97-AF65-F5344CB8AC3E}">
        <p14:creationId xmlns:p14="http://schemas.microsoft.com/office/powerpoint/2010/main" val="491219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E417-BACB-FF5B-44C4-B24ECE3B761A}"/>
              </a:ext>
            </a:extLst>
          </p:cNvPr>
          <p:cNvSpPr>
            <a:spLocks noGrp="1"/>
          </p:cNvSpPr>
          <p:nvPr>
            <p:ph type="title"/>
          </p:nvPr>
        </p:nvSpPr>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0B55BECE-57AE-578E-BF4E-215740C42A9B}"/>
              </a:ext>
            </a:extLst>
          </p:cNvPr>
          <p:cNvSpPr>
            <a:spLocks noGrp="1"/>
          </p:cNvSpPr>
          <p:nvPr>
            <p:ph idx="1"/>
          </p:nvPr>
        </p:nvSpPr>
        <p:spPr/>
        <p:txBody>
          <a:bodyPr>
            <a:normAutofit fontScale="92500"/>
          </a:bodyPr>
          <a:lstStyle/>
          <a:p>
            <a:pPr algn="just"/>
            <a:r>
              <a:rPr lang="en-US" dirty="0">
                <a:latin typeface="Bahnschrift" panose="020B0502040204020203" pitchFamily="34" charset="0"/>
              </a:rPr>
              <a:t>Here's what a typical MCP client and server exchange looks like:</a:t>
            </a:r>
          </a:p>
          <a:p>
            <a:pPr algn="just"/>
            <a:r>
              <a:rPr lang="en-US" dirty="0">
                <a:latin typeface="Bahnschrift" panose="020B0502040204020203" pitchFamily="34" charset="0"/>
              </a:rPr>
              <a:t>The user requests a task from the MCP client</a:t>
            </a:r>
          </a:p>
          <a:p>
            <a:pPr marL="228600" lvl="1" algn="just">
              <a:spcBef>
                <a:spcPts val="1000"/>
              </a:spcBef>
            </a:pPr>
            <a:r>
              <a:rPr lang="en-US" sz="2200" dirty="0">
                <a:latin typeface="Bahnschrift" panose="020B0502040204020203" pitchFamily="34" charset="0"/>
              </a:rPr>
              <a:t>The MCP client has the information about the tools that each MCP server implements or has access to</a:t>
            </a:r>
          </a:p>
          <a:p>
            <a:pPr algn="just"/>
            <a:r>
              <a:rPr lang="en-US" dirty="0">
                <a:latin typeface="Bahnschrift" panose="020B0502040204020203" pitchFamily="34" charset="0"/>
              </a:rPr>
              <a:t>The MCP client passes the request from the user plus the information from the MCP servers to an LLM which responds with the tool needed and the parameters to be used</a:t>
            </a:r>
          </a:p>
          <a:p>
            <a:pPr algn="just"/>
            <a:r>
              <a:rPr lang="en-US" dirty="0">
                <a:latin typeface="Bahnschrift" panose="020B0502040204020203" pitchFamily="34" charset="0"/>
              </a:rPr>
              <a:t>The MCP client sends the information about the tools and parameters to the MCP server</a:t>
            </a:r>
          </a:p>
          <a:p>
            <a:pPr algn="just"/>
            <a:r>
              <a:rPr lang="en-US" dirty="0">
                <a:latin typeface="Bahnschrift" panose="020B0502040204020203" pitchFamily="34" charset="0"/>
              </a:rPr>
              <a:t>The MCP server completes the task and returns the answer to the MCP client that passes the answer to the LLM, and the LLM generates a response for the user</a:t>
            </a:r>
          </a:p>
          <a:p>
            <a:pPr algn="just"/>
            <a:r>
              <a:rPr lang="en-US" dirty="0">
                <a:latin typeface="Bahnschrift" panose="020B0502040204020203" pitchFamily="34" charset="0"/>
              </a:rPr>
              <a:t>The response is shown to the user by the MCP client</a:t>
            </a:r>
          </a:p>
          <a:p>
            <a:pPr algn="just"/>
            <a:endParaRPr lang="en-IN" dirty="0"/>
          </a:p>
        </p:txBody>
      </p:sp>
    </p:spTree>
    <p:extLst>
      <p:ext uri="{BB962C8B-B14F-4D97-AF65-F5344CB8AC3E}">
        <p14:creationId xmlns:p14="http://schemas.microsoft.com/office/powerpoint/2010/main" val="3599414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F458-3EB0-EE02-14F2-528C7EBB0126}"/>
              </a:ext>
            </a:extLst>
          </p:cNvPr>
          <p:cNvSpPr>
            <a:spLocks noGrp="1"/>
          </p:cNvSpPr>
          <p:nvPr>
            <p:ph type="title"/>
          </p:nvPr>
        </p:nvSpPr>
        <p:spPr>
          <a:xfrm>
            <a:off x="3082413" y="508734"/>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D3B6FFE3-D1F3-0FB1-75EE-2B95D6BEE7AB}"/>
              </a:ext>
            </a:extLst>
          </p:cNvPr>
          <p:cNvSpPr>
            <a:spLocks noGrp="1"/>
          </p:cNvSpPr>
          <p:nvPr>
            <p:ph idx="1"/>
          </p:nvPr>
        </p:nvSpPr>
        <p:spPr>
          <a:xfrm>
            <a:off x="685800" y="1801762"/>
            <a:ext cx="10820400" cy="4416923"/>
          </a:xfrm>
        </p:spPr>
        <p:txBody>
          <a:bodyPr/>
          <a:lstStyle/>
          <a:p>
            <a:pPr algn="just"/>
            <a:r>
              <a:rPr lang="en-US" sz="2000" dirty="0">
                <a:latin typeface="Bahnschrift" panose="020B0502040204020203" pitchFamily="34" charset="0"/>
              </a:rPr>
              <a:t>MCP servers can be run locally or remotely, and the security risks differ depending on how they are executed.</a:t>
            </a:r>
          </a:p>
          <a:p>
            <a:pPr algn="just"/>
            <a:r>
              <a:rPr lang="en-US" sz="2000" dirty="0">
                <a:latin typeface="Bahnschrift" panose="020B0502040204020203" pitchFamily="34" charset="0"/>
              </a:rPr>
              <a:t>We define "local MCP servers" as the MCP servers that we run in a host that we control. </a:t>
            </a:r>
          </a:p>
          <a:p>
            <a:pPr algn="just"/>
            <a:r>
              <a:rPr lang="en-US" sz="2000" dirty="0">
                <a:latin typeface="Bahnschrift" panose="020B0502040204020203" pitchFamily="34" charset="0"/>
              </a:rPr>
              <a:t>To perform the requested tasks, local MCP servers usually execute OS commands or custom code locally.</a:t>
            </a:r>
          </a:p>
          <a:p>
            <a:pPr algn="just"/>
            <a:r>
              <a:rPr lang="en-US" sz="2000" dirty="0">
                <a:latin typeface="Bahnschrift" panose="020B0502040204020203" pitchFamily="34" charset="0"/>
              </a:rPr>
              <a:t>"Remote MCP servers" are only run remotely by a third party. </a:t>
            </a:r>
          </a:p>
          <a:p>
            <a:pPr algn="just"/>
            <a:r>
              <a:rPr lang="en-US" sz="2000" dirty="0">
                <a:latin typeface="Bahnschrift" panose="020B0502040204020203" pitchFamily="34" charset="0"/>
              </a:rPr>
              <a:t>We can have access to remote MCP servers, but they don’t run on a host we control. </a:t>
            </a:r>
          </a:p>
          <a:p>
            <a:pPr algn="just"/>
            <a:r>
              <a:rPr lang="en-US" sz="2000" dirty="0">
                <a:latin typeface="Bahnschrift" panose="020B0502040204020203" pitchFamily="34" charset="0"/>
              </a:rPr>
              <a:t>Remote MCP servers still have security risks for the users because they have access to their data, but since they are not executed locally, many common risks don’t apply.</a:t>
            </a:r>
          </a:p>
          <a:p>
            <a:pPr algn="just"/>
            <a:endParaRPr lang="en-IN" dirty="0"/>
          </a:p>
        </p:txBody>
      </p:sp>
    </p:spTree>
    <p:extLst>
      <p:ext uri="{BB962C8B-B14F-4D97-AF65-F5344CB8AC3E}">
        <p14:creationId xmlns:p14="http://schemas.microsoft.com/office/powerpoint/2010/main" val="3727285511"/>
      </p:ext>
    </p:extLst>
  </p:cSld>
  <p:clrMapOvr>
    <a:masterClrMapping/>
  </p:clrMapOvr>
</p:sld>
</file>

<file path=ppt/theme/theme1.xml><?xml version="1.0" encoding="utf-8"?>
<a:theme xmlns:a="http://schemas.openxmlformats.org/drawingml/2006/main" name="Vapor Trai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847</TotalTime>
  <Words>3993</Words>
  <Application>Microsoft Office PowerPoint</Application>
  <PresentationFormat>Widescreen</PresentationFormat>
  <Paragraphs>305</Paragraphs>
  <Slides>41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Arial Black</vt:lpstr>
      <vt:lpstr>Bahnschrift</vt:lpstr>
      <vt:lpstr>Calibri</vt:lpstr>
      <vt:lpstr>Century Gothic</vt:lpstr>
      <vt:lpstr>Vapor Trail</vt:lpstr>
      <vt:lpstr>AI For software testing</vt:lpstr>
      <vt:lpstr>What is AI?</vt:lpstr>
      <vt:lpstr>Real World examples</vt:lpstr>
      <vt:lpstr>LLMs(Large language model)</vt:lpstr>
      <vt:lpstr>What Can LLMs Do? </vt:lpstr>
      <vt:lpstr>What is generative ai?</vt:lpstr>
      <vt:lpstr>Generative ai models/LLMS</vt:lpstr>
      <vt:lpstr>Generative ai models/LLMS</vt:lpstr>
      <vt:lpstr>Generative ai models/LLMS</vt:lpstr>
      <vt:lpstr>Ai vs generative ai</vt:lpstr>
      <vt:lpstr>Why qa should learn GEN AI?</vt:lpstr>
      <vt:lpstr>Popular generative ai models</vt:lpstr>
      <vt:lpstr>Prompt Engineering</vt:lpstr>
      <vt:lpstr>Building components for good prompt</vt:lpstr>
      <vt:lpstr>Manual Testing with generative ai</vt:lpstr>
      <vt:lpstr>1. Creating a Test Plan </vt:lpstr>
      <vt:lpstr>2. Writing Test Scenarios &amp; Test Cases </vt:lpstr>
      <vt:lpstr>3. Creating Test Data</vt:lpstr>
      <vt:lpstr>4. Writing a Bug Report  </vt:lpstr>
      <vt:lpstr>5. Generating Test Summary Report </vt:lpstr>
      <vt:lpstr>Generative ai in API Testing</vt:lpstr>
      <vt:lpstr>Api testing</vt:lpstr>
      <vt:lpstr>API Testing</vt:lpstr>
      <vt:lpstr>Generative ai in Selenium</vt:lpstr>
      <vt:lpstr>Key Benefits of Using Generative AI in Selenium  </vt:lpstr>
      <vt:lpstr>Generative AI in Selenium</vt:lpstr>
      <vt:lpstr>Generative AI in Selenium</vt:lpstr>
      <vt:lpstr>Generative AI in Selenium</vt:lpstr>
      <vt:lpstr>Limitation of llms</vt:lpstr>
      <vt:lpstr>AI Agent</vt:lpstr>
      <vt:lpstr>Ai agent examples</vt:lpstr>
      <vt:lpstr>Ai power tool TestRigor</vt:lpstr>
      <vt:lpstr>GitHub copilot</vt:lpstr>
      <vt:lpstr>advantages</vt:lpstr>
      <vt:lpstr>Copilot setup in vs code</vt:lpstr>
      <vt:lpstr>Model Context Protocol (MCP) framework</vt:lpstr>
      <vt:lpstr>Model Context Protocol (MCP) framework</vt:lpstr>
      <vt:lpstr>Model Context Protocol (MCP) framework</vt:lpstr>
      <vt:lpstr>PowerPoint Presentation</vt:lpstr>
      <vt:lpstr>Model Context Protocol (MCP) framework</vt:lpstr>
      <vt:lpstr>Model Context Protocol (MCP)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117</cp:revision>
  <dcterms:created xsi:type="dcterms:W3CDTF">2025-08-21T12:12:00Z</dcterms:created>
  <dcterms:modified xsi:type="dcterms:W3CDTF">2025-08-22T17:19:52Z</dcterms:modified>
</cp:coreProperties>
</file>